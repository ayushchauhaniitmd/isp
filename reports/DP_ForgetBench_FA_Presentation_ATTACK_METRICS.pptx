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6C6DA"/>
                </a:solidFill>
                <a:latin typeface="Aptos"/>
              </a:defRPr>
            </a:pPr>
            <a:r>
              <a:t>FEDERATED LEARNING × CLIENT-LEVEL PRIVACY × UNLEARNING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DP-ForgetBench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08760"/>
            <a:ext cx="1042416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300" b="1">
                <a:solidFill>
                  <a:srgbClr val="26C6DA"/>
                </a:solidFill>
                <a:latin typeface="Aptos"/>
              </a:defRPr>
            </a:pPr>
            <a:r>
              <a:t>When is explicit client unlearning redundant under differentially private federated learning?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514600"/>
            <a:ext cx="10744200" cy="18288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907792"/>
            <a:ext cx="4846320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 privacy-aligned benchmark for deciding whether to do nothing, unlearn, or retrain after a client deletion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788920"/>
            <a:ext cx="4800600" cy="201168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3108960"/>
            <a:ext cx="41605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26C6DA"/>
                </a:solidFill>
                <a:latin typeface="Aptos"/>
              </a:defRPr>
            </a:pPr>
            <a:r>
              <a:t>THE CENTRAL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566160"/>
            <a:ext cx="402336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M_DP  vs  M_U  vs  M_R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434840"/>
            <a:ext cx="40233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BED2E6"/>
                </a:solidFill>
                <a:latin typeface="Aptos"/>
              </a:defRPr>
            </a:pPr>
            <a:r>
              <a:t>DP-only  |  explicit unlearning  |  exact retrain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0">
                <a:solidFill>
                  <a:srgbClr val="BED2E6"/>
                </a:solidFill>
                <a:latin typeface="Aptos"/>
              </a:defRPr>
            </a:pPr>
            <a:r>
              <a:t>Not a claim that DP is deletion. A test of when explicit unlearning adds material benefit.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01  | 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The research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EF9140"/>
                </a:solidFill>
                <a:latin typeface="Aptos"/>
              </a:defRPr>
            </a:pPr>
            <a:r>
              <a:t>A CLIENT REQUESTS DELETION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Exact retraining is the clean reference, but expensive.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Approximate unlearning may change utility or expose retained data.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A DP model may already have a small client influence.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The wrong comparison can make a useless model look forgotten.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5074920" cy="4434840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2D6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645920"/>
            <a:ext cx="43891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26C6DA"/>
                </a:solidFill>
                <a:latin typeface="Aptos"/>
              </a:defRPr>
            </a:pPr>
            <a:r>
              <a:t>OUR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057400"/>
            <a:ext cx="4297680" cy="1234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Does explicit unlearning provide meaningful benefit beyond leaving the client-level DP model unchanged?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886200"/>
            <a:ext cx="425196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BED2E6"/>
                </a:solidFill>
                <a:latin typeface="Aptos"/>
              </a:defRPr>
            </a:pPr>
            <a:r>
              <a:t>A benefit must be measured against retraining variability, not one arbitrary retrain.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02  | 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What is genuinely novel?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91440" cy="1920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6C6DA"/>
                </a:solidFill>
                <a:latin typeface="Aptos"/>
              </a:defRPr>
            </a:pPr>
            <a:r>
              <a:t>Privacy-scope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Client deletion is evaluated under client-level central DP, not example-level DP-SGD.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91440" cy="192024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D6DDC"/>
                </a:solidFill>
                <a:latin typeface="Aptos"/>
              </a:defRPr>
            </a:pPr>
            <a:r>
              <a:t>Redundancy frontier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Map redundant, beneficial, harmful, and inconclusive regions over privacy and deletion factors.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91440" cy="192024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3AA78"/>
                </a:solidFill>
                <a:latin typeface="Aptos"/>
              </a:defRPr>
            </a:pPr>
            <a:r>
              <a:t>Retrain variability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Independent M_R runs define the natural stochastic reference band.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5760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91440" cy="1920240"/>
          </a:xfrm>
          <a:prstGeom prst="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EF9140"/>
                </a:solidFill>
                <a:latin typeface="Aptos"/>
              </a:defRPr>
            </a:pPr>
            <a:r>
              <a:t>Tri-population +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3484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Forgotten, retained, unseen privacy and full request-lifecycle cost are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03  | 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The privacy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459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Poisson sample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173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6002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459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Clip complete client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4173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16002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16459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Add Gaussian noise to sum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Normalize by fixed q×N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2461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34290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4747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Account with RDP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257800"/>
            <a:ext cx="10698480" cy="685800"/>
          </a:xfrm>
          <a:prstGeom prst="roundRect">
            <a:avLst/>
          </a:prstGeom>
          <a:solidFill>
            <a:srgbClr val="E8F3FA"/>
          </a:solidFill>
          <a:ln w="12700">
            <a:solidFill>
              <a:srgbClr val="AA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458968"/>
            <a:ext cx="101498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122034"/>
                </a:solidFill>
                <a:latin typeface="Aptos"/>
              </a:defRPr>
            </a:pPr>
            <a:r>
              <a:t>Adjacency = one complete client dataset  |  delta = 1e-5  |  secure aggregation not implemented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04  |  VALIDITY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We prevent vacuous unlearning claims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4297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5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D6535D"/>
                </a:solidFill>
                <a:latin typeface="Aptos"/>
              </a:defRPr>
            </a:pPr>
            <a:r>
              <a:t>UTILITY COLLAPSE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743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400" b="1">
                <a:solidFill>
                  <a:srgbClr val="D6535D"/>
                </a:solidFill>
                <a:latin typeface="Aptos"/>
              </a:defRPr>
            </a:pPr>
            <a:r>
              <a:t>≈10%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122034"/>
                </a:solidFill>
                <a:latin typeface="Aptos"/>
              </a:defRPr>
            </a:pPr>
            <a:r>
              <a:t>Low leakage here does not prove forgetting. The model did not learn enough for deletion to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976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737360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EF9140"/>
                </a:solidFill>
                <a:latin typeface="Aptos"/>
              </a:defRPr>
            </a:pPr>
            <a:r>
              <a:t>DP-DOMINATED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43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000" b="1">
                <a:solidFill>
                  <a:srgbClr val="EF9140"/>
                </a:solidFill>
                <a:latin typeface="Aptos"/>
              </a:defRPr>
            </a:pPr>
            <a:r>
              <a:t>25–40%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8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122034"/>
                </a:solidFill>
                <a:latin typeface="Aptos"/>
              </a:defRPr>
            </a:pPr>
            <a:r>
              <a:t>The model learns, but DP may mask the client effect relative to retrain variability.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37560" cy="4297680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AA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3AA78"/>
                </a:solidFill>
                <a:latin typeface="Aptos"/>
              </a:defRPr>
            </a:pPr>
            <a:r>
              <a:t>HEALTHY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86000"/>
            <a:ext cx="2743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400" b="1">
                <a:solidFill>
                  <a:srgbClr val="23AA78"/>
                </a:solidFill>
                <a:latin typeface="Aptos"/>
              </a:defRPr>
            </a:pPr>
            <a:r>
              <a:t>≥40%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5468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122034"/>
                </a:solidFill>
                <a:latin typeface="Aptos"/>
              </a:defRPr>
            </a:pPr>
            <a:r>
              <a:t>Only here is a meaningful DP-versus-unlearning comparison possible.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05  |  COMPLETED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What we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D6DDC"/>
                </a:solidFill>
                <a:latin typeface="Aptos"/>
              </a:defRPr>
            </a:pPr>
            <a:r>
              <a:t>BENCHMARK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6C6DA"/>
                </a:solidFill>
                <a:latin typeface="Aptos"/>
              </a:defRPr>
            </a:pPr>
            <a:r>
              <a:t>EVALUATION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4480560" cy="3200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Client-level DP + RDP ledger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Deterministic deletion manifests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Exact + independent retraining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Fine-tuning + cached reconstruction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FedEraser-style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480560" cy="3200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CIFAR-10 multiclass backend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GroupNorm CNN / ResNet path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MUB + validity gates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MIA + tri-population probes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GPU/Colab 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06  | 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Utility gate: a non-vacuous frozen regime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14300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NON-PRIVATE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2880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3AA78"/>
                </a:solidFill>
                <a:latin typeface="Aptos"/>
              </a:defRPr>
            </a:pPr>
            <a:r>
              <a:t>44.82%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4942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3 seeds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14300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58191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FROZEN DP-ONLY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2880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D6DDC"/>
                </a:solidFill>
                <a:latin typeface="Aptos"/>
              </a:defRPr>
            </a:pPr>
            <a:r>
              <a:t>42.38%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4942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epsilon ≈ 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1430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58191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DP / NON-DP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2880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6C6DA"/>
                </a:solidFill>
                <a:latin typeface="Aptos"/>
              </a:defRPr>
            </a:pPr>
            <a:r>
              <a:t>94.6%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observed mean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71800"/>
            <a:ext cx="10515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D6DDC"/>
                </a:solidFill>
                <a:latin typeface="Aptos"/>
              </a:defRPr>
            </a:pPr>
            <a:r>
              <a:t>Frozen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01568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800" b="1">
                <a:solidFill>
                  <a:srgbClr val="122034"/>
                </a:solidFill>
                <a:latin typeface="Aptos"/>
              </a:defRPr>
            </a:pPr>
            <a:r>
              <a:t>SmallGroupNormCNN  |  100 clients  |  q=0.5  |  40 rounds  |  5 local epochs  |  alpha=0.5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97680"/>
            <a:ext cx="10515600" cy="1005840"/>
          </a:xfrm>
          <a:prstGeom prst="roundRect">
            <a:avLst/>
          </a:prstGeom>
          <a:solidFill>
            <a:srgbClr val="E8F3FA"/>
          </a:solidFill>
          <a:ln w="12700">
            <a:solidFill>
              <a:srgbClr val="AF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996696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122034"/>
                </a:solidFill>
                <a:latin typeface="Aptos"/>
              </a:defRPr>
            </a:pPr>
            <a:r>
              <a:t>The current model is not broken. The experiment has reached a useful finite-DP regime where unlearning is no longer a vacuous question.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07  |  MEASURED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The privacy–utility curve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6294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0807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122034"/>
                </a:solidFill>
                <a:latin typeface="Aptos"/>
              </a:defRPr>
            </a:pPr>
            <a:r>
              <a:t>Mean test accuracy across 3 seeds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16636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09320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63474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56158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0312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5366" y="3974759"/>
            <a:ext cx="566928" cy="1191600"/>
          </a:xfrm>
          <a:prstGeom prst="roundRect">
            <a:avLst/>
          </a:prstGeom>
          <a:solidFill>
            <a:srgbClr val="D6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8206" y="3718727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D6535D"/>
                </a:solidFill>
                <a:latin typeface="Aptos"/>
              </a:defRPr>
            </a:pPr>
            <a:r>
              <a:t>19.4%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933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ε=8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79826" y="3402546"/>
            <a:ext cx="566928" cy="1763813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42666" y="3146514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EF9140"/>
                </a:solidFill>
                <a:latin typeface="Aptos"/>
              </a:defRPr>
            </a:pPr>
            <a:r>
              <a:t>28.8%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379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ε=16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4286" y="2930194"/>
            <a:ext cx="566928" cy="2236165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7126" y="2674162"/>
            <a:ext cx="841247" cy="24622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D6DDC"/>
                </a:solidFill>
                <a:latin typeface="Aptos"/>
              </a:defRPr>
            </a:pPr>
            <a:r>
              <a:rPr lang="en-IN" dirty="0"/>
              <a:t>42.3</a:t>
            </a:r>
            <a:r>
              <a:rPr dirty="0"/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825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ε=32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8746" y="2420471"/>
            <a:ext cx="566928" cy="2745888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31586" y="2164439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3AA78"/>
                </a:solidFill>
                <a:latin typeface="Aptos"/>
              </a:defRPr>
            </a:pPr>
            <a:r>
              <a:t>44.8%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271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non-DP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1325880"/>
            <a:ext cx="3703320" cy="4709160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2D6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0" y="1691640"/>
            <a:ext cx="3017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1">
                <a:solidFill>
                  <a:srgbClr val="26C6DA"/>
                </a:solidFill>
                <a:latin typeface="Aptos"/>
              </a:defRPr>
            </a:pPr>
            <a:r>
              <a:t>READING THE CURVE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148840"/>
            <a:ext cx="2834640" cy="2560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ε=8 is utility-invalid.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ε=16 is marginal but above chance.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ε=32 is the strongest finite-DP point.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Non-DP establishes the learning ceiling for this federated setup.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074920"/>
            <a:ext cx="28346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6C6DA"/>
                </a:solidFill>
                <a:latin typeface="Aptos"/>
              </a:defRPr>
            </a:pPr>
            <a:r>
              <a:t>The benchmark only moves to unlearning once the model is non-vacuous.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08  |  DIAGNOSTIC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One controlled change unlocked the frozen regime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6294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0807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122034"/>
                </a:solidFill>
                <a:latin typeface="Aptos"/>
              </a:defRPr>
            </a:pPr>
            <a:r>
              <a:t>ε=32 · 40 rounds · mean accuracy across 3 seeds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16636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09320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63474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56158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0312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7776" y="3198534"/>
            <a:ext cx="566928" cy="1967825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80616" y="2942502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EF9140"/>
                </a:solidFill>
                <a:latin typeface="Aptos"/>
              </a:defRPr>
            </a:pPr>
            <a:r>
              <a:t>32.1%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174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2 epochs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77056" y="2706578"/>
            <a:ext cx="566928" cy="2459781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9896" y="2450546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D6DDC"/>
                </a:solidFill>
                <a:latin typeface="Aptos"/>
              </a:defRPr>
            </a:pPr>
            <a:r>
              <a:t>40.1%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4 epochs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6336" y="2569957"/>
            <a:ext cx="566928" cy="2596402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99176" y="2313925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3AA78"/>
                </a:solidFill>
                <a:latin typeface="Aptos"/>
              </a:defRPr>
            </a:pPr>
            <a:r>
              <a:t>42.4%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030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5 epochs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325880"/>
            <a:ext cx="3703320" cy="4709160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AA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1691640"/>
            <a:ext cx="2971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600" b="1">
                <a:solidFill>
                  <a:srgbClr val="23AA78"/>
                </a:solidFill>
                <a:latin typeface="Aptos"/>
              </a:defRPr>
            </a:pPr>
            <a:r>
              <a:t>+10.26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148840"/>
            <a:ext cx="28346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from 2 → 5 local epochs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880360"/>
            <a:ext cx="2743200" cy="1920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Same model.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Same ε=32.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Same 40 rounds.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Only local learning 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074920"/>
            <a:ext cx="28346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3AA78"/>
                </a:solidFill>
                <a:latin typeface="Aptos"/>
              </a:defRPr>
            </a:pPr>
            <a:r>
              <a:t>Frozen candidate: 5 local epochs; 42.38% mean DP utility.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07  |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First frozen unlearning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530352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563624"/>
            <a:ext cx="5029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417320"/>
            <a:ext cx="219456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563624"/>
            <a:ext cx="192024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TEST ACC</a:t>
            </a:r>
          </a:p>
        </p:txBody>
      </p:sp>
      <p:sp>
        <p:nvSpPr>
          <p:cNvPr id="9" name="Rectangle 8"/>
          <p:cNvSpPr/>
          <p:nvPr/>
        </p:nvSpPr>
        <p:spPr>
          <a:xfrm>
            <a:off x="8366760" y="1417320"/>
            <a:ext cx="274320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31352" y="1563624"/>
            <a:ext cx="24688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FORGOTTEN ACC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10241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2011680"/>
            <a:ext cx="91440" cy="64008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" y="219456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DP-only / no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19456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D6DDC"/>
                </a:solidFill>
                <a:latin typeface="Aptos"/>
              </a:defRPr>
            </a:pPr>
            <a:r>
              <a:t>42.38%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9456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D6DDC"/>
                </a:solidFill>
                <a:latin typeface="Aptos"/>
              </a:defRPr>
            </a:pPr>
            <a:r>
              <a:t>51.00%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788920"/>
            <a:ext cx="10241280" cy="64008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2788920"/>
            <a:ext cx="91440" cy="64008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297180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Retained 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7180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3AA78"/>
                </a:solidFill>
                <a:latin typeface="Aptos"/>
              </a:defRPr>
            </a:pPr>
            <a:r>
              <a:t>44.05%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7180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3AA78"/>
                </a:solidFill>
                <a:latin typeface="Aptos"/>
              </a:defRPr>
            </a:pPr>
            <a:r>
              <a:t>50.83%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566160"/>
            <a:ext cx="10241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8680" y="3566160"/>
            <a:ext cx="91440" cy="640080"/>
          </a:xfrm>
          <a:prstGeom prst="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74904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Cached reconstruction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74904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EF9140"/>
                </a:solidFill>
                <a:latin typeface="Aptos"/>
              </a:defRPr>
            </a:pPr>
            <a:r>
              <a:t>41.47%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4904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EF9140"/>
                </a:solidFill>
                <a:latin typeface="Aptos"/>
              </a:defRPr>
            </a:pPr>
            <a:r>
              <a:t>40.50%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343400"/>
            <a:ext cx="10241280" cy="64008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8680" y="4343400"/>
            <a:ext cx="91440" cy="640080"/>
          </a:xfrm>
          <a:prstGeom prst="rect">
            <a:avLst/>
          </a:prstGeom>
          <a:solidFill>
            <a:srgbClr val="D6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" y="452628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FedEraser-style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52628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D6535D"/>
                </a:solidFill>
                <a:latin typeface="Aptos"/>
              </a:defRPr>
            </a:pPr>
            <a:r>
              <a:t>36.79%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52628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D6535D"/>
                </a:solidFill>
                <a:latin typeface="Aptos"/>
              </a:defRPr>
            </a:pPr>
            <a:r>
              <a:t>42.83%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120640"/>
            <a:ext cx="10241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8680" y="5120640"/>
            <a:ext cx="91440" cy="64008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24712" y="530352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Exact retrain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530352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122034"/>
                </a:solidFill>
                <a:latin typeface="Aptos"/>
              </a:defRPr>
            </a:pPr>
            <a:r>
              <a:t>41.73%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30352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122034"/>
                </a:solidFill>
                <a:latin typeface="Aptos"/>
              </a:defRPr>
            </a:pPr>
            <a:r>
              <a:t>43.50%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623560"/>
            <a:ext cx="10515600" cy="50292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5760720"/>
            <a:ext cx="1014984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122034"/>
                </a:solidFill>
                <a:latin typeface="Aptos"/>
              </a:defRPr>
            </a:pPr>
            <a:r>
              <a:t>Forgotten accuracy is a behavior signal, not a privacy guarantee; MIA and tri-population results are required.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09  |  DETAILED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Utility versus forgotten-client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6294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64208"/>
            <a:ext cx="60807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122034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230367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157215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653027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579875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075687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002535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556461"/>
            <a:ext cx="566928" cy="2673906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2300429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D6DDC"/>
                </a:solidFill>
                <a:latin typeface="Aptos"/>
              </a:defRPr>
            </a:pPr>
            <a:r>
              <a:t>42.4%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5340095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2451094"/>
            <a:ext cx="566928" cy="2779273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24328" y="2195062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3AA78"/>
                </a:solidFill>
                <a:latin typeface="Aptos"/>
              </a:defRPr>
            </a:pPr>
            <a:r>
              <a:t>44.0%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5340095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77056" y="2613876"/>
            <a:ext cx="566928" cy="2616491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9896" y="2357844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EF9140"/>
                </a:solidFill>
                <a:latin typeface="Aptos"/>
              </a:defRPr>
            </a:pPr>
            <a:r>
              <a:t>41.5%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5340095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CR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92624" y="2909154"/>
            <a:ext cx="566928" cy="2321213"/>
          </a:xfrm>
          <a:prstGeom prst="roundRect">
            <a:avLst/>
          </a:prstGeom>
          <a:solidFill>
            <a:srgbClr val="D6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55464" y="2653122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D6535D"/>
                </a:solidFill>
                <a:latin typeface="Aptos"/>
              </a:defRPr>
            </a:pPr>
            <a:r>
              <a:t>36.8%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5340095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8192" y="2597472"/>
            <a:ext cx="566928" cy="2632895"/>
          </a:xfrm>
          <a:prstGeom prst="round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71032" y="2341440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122034"/>
                </a:solidFill>
                <a:latin typeface="Aptos"/>
              </a:defRPr>
            </a:pPr>
            <a:r>
              <a:t>41.7%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340095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325880"/>
            <a:ext cx="37033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1691640"/>
            <a:ext cx="3017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D6DDC"/>
                </a:solidFill>
                <a:latin typeface="Aptos"/>
              </a:defRPr>
            </a:pPr>
            <a:r>
              <a:t>WHAT CHANGED?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148840"/>
            <a:ext cx="2788920" cy="2560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22034"/>
                </a:solidFill>
                <a:latin typeface="Aptos"/>
              </a:defRPr>
            </a:pPr>
            <a:r>
              <a:t>• Fine-tuning is best for utility.</a:t>
            </a:r>
          </a:p>
          <a:p>
            <a:pPr>
              <a:spcAft>
                <a:spcPts val="800"/>
              </a:spcAft>
              <a:defRPr sz="1300">
                <a:solidFill>
                  <a:srgbClr val="122034"/>
                </a:solidFill>
                <a:latin typeface="Aptos"/>
              </a:defRPr>
            </a:pPr>
            <a:r>
              <a:t>• Cached reconstruction is close to retrain on forgotten accuracy, but overshoots alignment.</a:t>
            </a:r>
          </a:p>
          <a:p>
            <a:pPr>
              <a:spcAft>
                <a:spcPts val="800"/>
              </a:spcAft>
              <a:defRPr sz="1300">
                <a:solidFill>
                  <a:srgbClr val="122034"/>
                </a:solidFill>
                <a:latin typeface="Aptos"/>
              </a:defRPr>
            </a:pPr>
            <a:r>
              <a:t>• FedEraser loses 5.59 pp versus DP-only.</a:t>
            </a:r>
          </a:p>
          <a:p>
            <a:pPr>
              <a:spcAft>
                <a:spcPts val="800"/>
              </a:spcAft>
              <a:defRPr sz="1300">
                <a:solidFill>
                  <a:srgbClr val="122034"/>
                </a:solidFill>
                <a:latin typeface="Aptos"/>
              </a:defRPr>
            </a:pPr>
            <a:r>
              <a:t>• DP-only is only 0.65 pp above retrain in mean test accuracy.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074920"/>
            <a:ext cx="28346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EF9140"/>
                </a:solidFill>
                <a:latin typeface="Aptos"/>
              </a:defRPr>
            </a:pPr>
            <a:r>
              <a:t>No single method dominates every endpoint.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08  |  PRIVACY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Audited attack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73152" cy="114300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3619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DP-ONLY FORGOTTEN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78308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D6DDC"/>
                </a:solidFill>
                <a:latin typeface="Aptos"/>
              </a:defRPr>
            </a:pPr>
            <a:r>
              <a:t>0.535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0370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held-out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73152" cy="114300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53619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FINE-TUNE FORGOTTEN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78308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3AA78"/>
                </a:solidFill>
                <a:latin typeface="Aptos"/>
              </a:defRPr>
            </a:pPr>
            <a:r>
              <a:t>0.526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0370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held-out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73152" cy="114300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53619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RETRAIN FORGOTTEN 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8308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0.516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0370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held-out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971800"/>
            <a:ext cx="10652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246120"/>
            <a:ext cx="95097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6C6DA"/>
                </a:solidFill>
                <a:latin typeface="Aptos"/>
              </a:defRPr>
            </a:pPr>
            <a:r>
              <a:t>AUDIT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657600"/>
            <a:ext cx="978408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Label-matched forgotten/retained members versus unseen data.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Threshold selected on calibration split; advantage evaluated on disjoint held-out split.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AUC is threshold-independent; bootstrap intervals are reported.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Tri-population probe separates forget, retain, and unseen populations.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EF9140"/>
                </a:solidFill>
                <a:latin typeface="Aptos"/>
              </a:defRPr>
            </a:pPr>
            <a:r>
              <a:t>Current interpretation: no method shows a reliable forgotten-set privacy improvement over DP-only with n=3 seeds.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10  | 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The attack signal is weak and variable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6294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0807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122034"/>
                </a:solidFill>
                <a:latin typeface="Aptos"/>
              </a:defRPr>
            </a:pPr>
            <a:r>
              <a:t>Forgotten-set MIA AUC (held-out)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16636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09320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63474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56158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0312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0.6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434971"/>
            <a:ext cx="566928" cy="2731389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2178939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D6DDC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2480919"/>
            <a:ext cx="566928" cy="2685440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24328" y="2224887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3AA78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77056" y="2531973"/>
            <a:ext cx="566928" cy="2634386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9896" y="2275941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EF9140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CR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92624" y="2486025"/>
            <a:ext cx="566928" cy="2680335"/>
          </a:xfrm>
          <a:prstGeom prst="roundRect">
            <a:avLst/>
          </a:prstGeom>
          <a:solidFill>
            <a:srgbClr val="D6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55464" y="2229993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D6535D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8192" y="2531973"/>
            <a:ext cx="566928" cy="2634386"/>
          </a:xfrm>
          <a:prstGeom prst="round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71032" y="2275941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122034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325880"/>
            <a:ext cx="3703320" cy="470916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1691640"/>
            <a:ext cx="2971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300" b="1">
                <a:solidFill>
                  <a:srgbClr val="EF9140"/>
                </a:solidFill>
                <a:latin typeface="Aptos"/>
              </a:defRPr>
            </a:pPr>
            <a:r>
              <a:t>n = 3 seeds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240280"/>
            <a:ext cx="2743200" cy="2377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Intervals are wide.</a:t>
            </a:r>
          </a:p>
          <a:p>
            <a:pPr>
              <a:spcAft>
                <a:spcPts val="9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AUC values are near 0.5.</a:t>
            </a:r>
          </a:p>
          <a:p>
            <a:pPr>
              <a:spcAft>
                <a:spcPts val="9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No explicit method shows a reliable privacy win over DP-only.</a:t>
            </a:r>
          </a:p>
          <a:p>
            <a:pPr>
              <a:spcAft>
                <a:spcPts val="9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Tri-population aggregation remains a required next check.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074920"/>
            <a:ext cx="28346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535D"/>
                </a:solidFill>
                <a:latin typeface="Aptos"/>
              </a:defRPr>
            </a:pPr>
            <a:r>
              <a:t>Current answer: suggestive, not decisive.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11  |  METRIC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Attack metrics: what each number means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82296" cy="12344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4526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6C6DA"/>
                </a:solidFill>
                <a:latin typeface="Aptos"/>
              </a:defRPr>
            </a:pPr>
            <a:r>
              <a:t>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45262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122034"/>
                </a:solidFill>
                <a:latin typeface="Aptos"/>
              </a:defRPr>
            </a:pPr>
            <a:r>
              <a:t>Area under the ROC curve. Threshold-independent ranking quality; 0.5 is chance, 1.0 is perfect separation.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166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82296" cy="123444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1508760"/>
            <a:ext cx="4526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D6DDC"/>
                </a:solidFill>
                <a:latin typeface="Aptos"/>
              </a:defRPr>
            </a:pPr>
            <a:r>
              <a:t>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847088"/>
            <a:ext cx="45262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122034"/>
                </a:solidFill>
                <a:latin typeface="Aptos"/>
              </a:defRPr>
            </a:pPr>
            <a:r>
              <a:t>Held-out TPR − held-out FPR at the threshold selected on the calibration split. Positive means member-like separation.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166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880360"/>
            <a:ext cx="82296" cy="123444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063240"/>
            <a:ext cx="4526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3AA78"/>
                </a:solidFill>
                <a:latin typeface="Aptos"/>
              </a:defRPr>
            </a:pPr>
            <a:r>
              <a:t>TPR @ 1% FPR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401568"/>
            <a:ext cx="45262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122034"/>
                </a:solidFill>
                <a:latin typeface="Aptos"/>
              </a:defRPr>
            </a:pPr>
            <a:r>
              <a:t>Fraction of members detected while allowing only 1% false alarms. Highlights precision-sensitive attacks.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80360"/>
            <a:ext cx="5166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880360"/>
            <a:ext cx="82296" cy="1234440"/>
          </a:xfrm>
          <a:prstGeom prst="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3063240"/>
            <a:ext cx="4526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EF9140"/>
                </a:solidFill>
                <a:latin typeface="Aptos"/>
              </a:defRPr>
            </a:pPr>
            <a:r>
              <a:t>TPR @ 0.1% FPR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401568"/>
            <a:ext cx="45262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122034"/>
                </a:solidFill>
                <a:latin typeface="Aptos"/>
              </a:defRPr>
            </a:pPr>
            <a:r>
              <a:t>Stricter low-false-positive operating point for high-confidence attacks.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34840"/>
            <a:ext cx="5166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434840"/>
            <a:ext cx="82296" cy="1234440"/>
          </a:xfrm>
          <a:prstGeom prst="rect">
            <a:avLst/>
          </a:prstGeom>
          <a:solidFill>
            <a:srgbClr val="D6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4617720"/>
            <a:ext cx="4526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D6535D"/>
                </a:solidFill>
                <a:latin typeface="Aptos"/>
              </a:defRPr>
            </a:pPr>
            <a:r>
              <a:t>Tri-probe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956048"/>
            <a:ext cx="45262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122034"/>
                </a:solidFill>
                <a:latin typeface="Aptos"/>
              </a:defRPr>
            </a:pPr>
            <a:r>
              <a:t>Three-class classification accuracy for forget, retain, and unseen populations using pre/post loss-confidence features.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434840"/>
            <a:ext cx="5166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434840"/>
            <a:ext cx="82296" cy="123444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4617720"/>
            <a:ext cx="4526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122034"/>
                </a:solidFill>
                <a:latin typeface="Aptos"/>
              </a:defRPr>
            </a:pPr>
            <a:r>
              <a:t>Macro OVR 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956048"/>
            <a:ext cx="45262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122034"/>
                </a:solidFill>
                <a:latin typeface="Aptos"/>
              </a:defRPr>
            </a:pPr>
            <a:r>
              <a:t>One-vs-rest AUC averaged across forget, retain, and unseen classes; 0.5 is chance-like ranking.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12  |  AUDIT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Attack populations and calibration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448056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5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07408" y="1325880"/>
            <a:ext cx="3383280" cy="4480560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AA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83296" y="1325880"/>
            <a:ext cx="3383280" cy="4480560"/>
          </a:xfrm>
          <a:prstGeom prst="roundRect">
            <a:avLst/>
          </a:prstGeom>
          <a:solidFill>
            <a:srgbClr val="E8F3FA"/>
          </a:solidFill>
          <a:ln w="12700">
            <a:solidFill>
              <a:srgbClr val="AF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2743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D6535D"/>
                </a:solidFill>
                <a:latin typeface="Aptos"/>
              </a:defRPr>
            </a:pPr>
            <a:r>
              <a:t>FORGOTTEN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7432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122034"/>
                </a:solidFill>
                <a:latin typeface="Aptos"/>
              </a:defRPr>
            </a:pPr>
            <a:r>
              <a:t>Examples belonging to the deleted client.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27432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Question: does the released model still expose member-like signal for this population?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645920"/>
            <a:ext cx="2743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3AA78"/>
                </a:solidFill>
                <a:latin typeface="Aptos"/>
              </a:defRPr>
            </a:pPr>
            <a:r>
              <a:t>RETAINED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148840"/>
            <a:ext cx="27432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122034"/>
                </a:solidFill>
                <a:latin typeface="Aptos"/>
              </a:defRPr>
            </a:pPr>
            <a:r>
              <a:t>Examples belonging to clients that remain.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657600"/>
            <a:ext cx="27432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Question: does unlearning create collateral leakage or utility damage for non-requesting clients?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1645920"/>
            <a:ext cx="2743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D6DDC"/>
                </a:solidFill>
                <a:latin typeface="Aptos"/>
              </a:defRPr>
            </a:pPr>
            <a:r>
              <a:t>UNSEEN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148840"/>
            <a:ext cx="27432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122034"/>
                </a:solidFill>
                <a:latin typeface="Aptos"/>
              </a:defRPr>
            </a:pPr>
            <a:r>
              <a:t>Held-out examples never used by clients.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657600"/>
            <a:ext cx="27432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Reference non-member population, label-matched against members.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6041517"/>
            <a:ext cx="10287000" cy="384048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2708" y="6132957"/>
            <a:ext cx="992124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Loss-MIA: 50/50 calibration/evaluation split · threshold from calibration · AUC and advantage on held-out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13  |  READING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How to interpret attack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166360" cy="4526280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2D6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EF9140"/>
                </a:solidFill>
                <a:latin typeface="Aptos"/>
              </a:defRPr>
            </a:pPr>
            <a:r>
              <a:t>A LOW SCORE DOES NOT AUTOMATICALLY MEAN UNLEARNING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434840" cy="2926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AUC near 0.5 means the attack cannot rank members well.</a:t>
            </a:r>
          </a:p>
          <a:p>
            <a:pPr>
              <a:spcAft>
                <a:spcPts val="10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Advantage near 0 means little held-out operating-point separation.</a:t>
            </a:r>
          </a:p>
          <a:p>
            <a:pPr>
              <a:spcAft>
                <a:spcPts val="10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A chance-level model can also produce low attack signal.</a:t>
            </a:r>
          </a:p>
          <a:p>
            <a:pPr>
              <a:spcAft>
                <a:spcPts val="10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Always check utility and validity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6C6DA"/>
                </a:solidFill>
                <a:latin typeface="Aptos"/>
              </a:defRPr>
            </a:pPr>
            <a:r>
              <a:t>WHAT COUNTS AS EVIDENCE?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434840" cy="2926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Compare M_DP, M_U, and M_R on the same frozen populations.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Use retrain variability and confidence intervals.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Check forgotten and retained privacy together.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Report cost and post-request data access alongside privacy.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09  |  DECISION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Marginal benefit versus practical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384048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74904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325880"/>
            <a:ext cx="146304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481328"/>
            <a:ext cx="1371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ACC MUB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146304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481328"/>
            <a:ext cx="1371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JS MUB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325880"/>
            <a:ext cx="146304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1481328"/>
            <a:ext cx="1371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MIA MUB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325880"/>
            <a:ext cx="274320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1481328"/>
            <a:ext cx="265176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96596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194560"/>
            <a:ext cx="37490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122034"/>
                </a:solidFill>
                <a:latin typeface="Aptos"/>
              </a:defRPr>
            </a:pPr>
            <a:r>
              <a:t>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9456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23AA78"/>
                </a:solidFill>
                <a:latin typeface="Aptos"/>
              </a:defRPr>
            </a:pPr>
            <a:r>
              <a:t>+0.0167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9456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23AA78"/>
                </a:solidFill>
                <a:latin typeface="Aptos"/>
              </a:defRPr>
            </a:pPr>
            <a:r>
              <a:t>+0.0061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19456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194560"/>
            <a:ext cx="26517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utility gain; privacy unclear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926080"/>
            <a:ext cx="10972800" cy="749808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37490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122034"/>
                </a:solidFill>
                <a:latin typeface="Aptos"/>
              </a:defRPr>
            </a:pPr>
            <a:r>
              <a:t>Cached reconstruction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15468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15468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15468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154680"/>
            <a:ext cx="26517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overshoots; history cost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8620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37490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122034"/>
                </a:solidFill>
                <a:latin typeface="Aptos"/>
              </a:defRPr>
            </a:pPr>
            <a:r>
              <a:t>FedEraser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1480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-0.0559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11480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11480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-0.0226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114800"/>
            <a:ext cx="26517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harmful utility tradeoff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166360"/>
            <a:ext cx="5120640" cy="640080"/>
          </a:xfrm>
          <a:prstGeom prst="roundRect">
            <a:avLst/>
          </a:prstGeom>
          <a:solidFill>
            <a:srgbClr val="E8F3FA"/>
          </a:solidFill>
          <a:ln w="12700">
            <a:solidFill>
              <a:srgbClr val="AF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5376672"/>
            <a:ext cx="4754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2D6DDC"/>
                </a:solidFill>
                <a:latin typeface="Aptos"/>
              </a:defRPr>
            </a:pPr>
            <a:r>
              <a:t>DP-only: no post-request 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166360"/>
            <a:ext cx="5120640" cy="6400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5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5376672"/>
            <a:ext cx="4754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D6535D"/>
                </a:solidFill>
                <a:latin typeface="Aptos"/>
              </a:defRPr>
            </a:pPr>
            <a:r>
              <a:t>FedEraser: ≈497 MB history + ≈965 MB communication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10  |  SCIENTIFIC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Transparency: what is and is not claimed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4526280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AA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166360" cy="4526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5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3AA78"/>
                </a:solidFill>
                <a:latin typeface="Aptos"/>
              </a:defRPr>
            </a:pPr>
            <a:r>
              <a:t>ESTABLISHED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48056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Client-level DP mechanism and ledger run correctly.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CNN learns multiclass CIFAR-10 above chance.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Frozen DP regime is useful and non-vacuous.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Explicit baselines and audited attacks run end to end.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FedEraser has a measurable utility/storage tradeoff.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D6535D"/>
                </a:solidFill>
                <a:latin typeface="Aptos"/>
              </a:defRPr>
            </a:pPr>
            <a:r>
              <a:t>NOT YET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448056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DP perfectly deletes client data.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A universal epsilon redundancy threshold.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Certified or legal deletion.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A confirmed frontier across datasets and request streams.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A statistically decisive winner with only three seeds.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11  |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Next stage: discover the frontier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594360" cy="5029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53895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32588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1453895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Complete tri-population aggregation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594360" cy="502920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214884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65960" y="227685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Confirm transition / harmful cells with 10 seeds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971800"/>
            <a:ext cx="594360" cy="502920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9981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97180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0" y="309981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Add heterogeneity, deletion size, and request sequences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94760"/>
            <a:ext cx="594360" cy="502920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92277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79476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65960" y="392277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Extend to natural client-partitioned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17720"/>
            <a:ext cx="594360" cy="502920"/>
          </a:xfrm>
          <a:prstGeom prst="round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4573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461772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65960" y="474573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Publish reproducible artifacts and paper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623560"/>
            <a:ext cx="10469880" cy="502920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769864"/>
            <a:ext cx="101041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Goal: (ε, α, deletion size, request count) → {redundant, beneficial, harmful, inconclusive}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6C6DA"/>
                </a:solidFill>
                <a:latin typeface="Aptos"/>
              </a:defRPr>
            </a:pPr>
            <a:r>
              <a:t>12  | 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The one-line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We are not proposing another unlearning algorithm.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14600"/>
            <a:ext cx="9738360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500" b="1">
                <a:solidFill>
                  <a:srgbClr val="26C6DA"/>
                </a:solidFill>
                <a:latin typeface="Aptos"/>
              </a:defRPr>
            </a:pPr>
            <a:r>
              <a:t>We are building the evidence needed to determine when client-level DP already suppresses a client's influence enough that explicit federated unlearning adds no meaningful benefit — and when it still fails to do 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617720"/>
            <a:ext cx="9921240" cy="27432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983480"/>
            <a:ext cx="97840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BED2E6"/>
                </a:solidFill>
                <a:latin typeface="Aptos"/>
              </a:defRPr>
            </a:pPr>
            <a:r>
              <a:t>Current status: benchmark validated · frozen study complete · frontier confirmation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1763</Words>
  <Application>Microsoft Office PowerPoint</Application>
  <PresentationFormat>Widescreen</PresentationFormat>
  <Paragraphs>335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Vibhu Awasthi</cp:lastModifiedBy>
  <cp:revision>4</cp:revision>
  <dcterms:created xsi:type="dcterms:W3CDTF">2013-01-27T09:14:16Z</dcterms:created>
  <dcterms:modified xsi:type="dcterms:W3CDTF">2026-09-19T04:04:05Z</dcterms:modified>
  <cp:category/>
</cp:coreProperties>
</file>