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FEDERATED LEARNING × CLIENT-LEVEL PRIVACY × UNLEARNING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DP-ForgetBench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42416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300" b="1">
                <a:solidFill>
                  <a:srgbClr val="26C6DA"/>
                </a:solidFill>
                <a:latin typeface="Aptos"/>
              </a:defRPr>
            </a:pPr>
            <a:r>
              <a:t>When is explicit client unlearning redundant under differentially private federated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514600"/>
            <a:ext cx="10744200" cy="18288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484632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 privacy-aligned benchmark for deciding whether to do nothing, unlearn, or retrain after a client deletion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88920"/>
            <a:ext cx="4800600" cy="201168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3108960"/>
            <a:ext cx="41605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THE CENTRAL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566160"/>
            <a:ext cx="402336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M_DP  vs  M_U  vs  M_R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434840"/>
            <a:ext cx="40233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BED2E6"/>
                </a:solidFill>
                <a:latin typeface="Aptos"/>
              </a:defRPr>
            </a:pPr>
            <a:r>
              <a:t>DP-only  |  explicit unlearning  |  exact retrain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BED2E6"/>
                </a:solidFill>
                <a:latin typeface="Aptos"/>
              </a:defRPr>
            </a:pPr>
            <a:r>
              <a:t>Not a claim that DP is deletion. A test of when explicit unlearning adds material benefit.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01  |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A CLIENT REQUESTS DELETION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retraining is the clean reference, but expensive.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Approximate unlearning may change utility or expose retained data.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A DP model may already have a small client influence.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The wrong comparison can make a useless model look forgotten.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074920" cy="443484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645920"/>
            <a:ext cx="43891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26C6DA"/>
                </a:solidFill>
                <a:latin typeface="Aptos"/>
              </a:defRPr>
            </a:pPr>
            <a:r>
              <a:t>OUR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429768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Does explicit unlearning provide meaningful benefit beyond leaving the client-level DP model unchanged?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886200"/>
            <a:ext cx="425196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BED2E6"/>
                </a:solidFill>
                <a:latin typeface="Aptos"/>
              </a:defRPr>
            </a:pPr>
            <a:r>
              <a:t>A benefit must be measured against retraining variability, not one arbitrary retrain.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02  | 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is genuinely novel?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91440" cy="192024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6C6DA"/>
                </a:solidFill>
                <a:latin typeface="Aptos"/>
              </a:defRPr>
            </a:pPr>
            <a:r>
              <a:t>Privacy-scope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Client deletion is evaluated under client-level central DP, not example-level DP-SGD.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91440" cy="192024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Redundancy frontier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Map redundant, beneficial, harmful, and inconclusive regions over privacy and deletion factors.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91440" cy="192024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3AA78"/>
                </a:solidFill>
                <a:latin typeface="Aptos"/>
              </a:defRPr>
            </a:pPr>
            <a:r>
              <a:t>Retrain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Independent M_R runs define the natural stochastic reference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91440" cy="192024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45262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EF9140"/>
                </a:solidFill>
                <a:latin typeface="Aptos"/>
              </a:defRPr>
            </a:pPr>
            <a:r>
              <a:t>Tri-population +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45262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22034"/>
                </a:solidFill>
                <a:latin typeface="Aptos"/>
              </a:defRPr>
            </a:pPr>
            <a:r>
              <a:t>Forgotten, retained, unseen privacy and full request-lifecycle cost are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03  |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privacy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Poisson sample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Clip complete client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6002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6459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Gaussian noise to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Normalize by fixed q×N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24612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429000"/>
            <a:ext cx="54864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6C6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474720"/>
            <a:ext cx="21031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Account with RDP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57800"/>
            <a:ext cx="10698480" cy="68580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A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458968"/>
            <a:ext cx="101498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122034"/>
                </a:solidFill>
                <a:latin typeface="Aptos"/>
              </a:defRPr>
            </a:pPr>
            <a:r>
              <a:t>Adjacency = one complete client dataset  |  delta = 1e-5  |  secure aggregation not implemented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04  |  VALIDITY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We prevent vacuous unlearning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4297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UTILITY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D6535D"/>
                </a:solidFill>
                <a:latin typeface="Aptos"/>
              </a:defRPr>
            </a:pPr>
            <a:r>
              <a:t>≈10%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Low leakage here does not prove forgetting. The model did not learn enough for deletion to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EF9140"/>
                </a:solidFill>
                <a:latin typeface="Aptos"/>
              </a:defRPr>
            </a:pPr>
            <a:r>
              <a:t>DP-DOMINATED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000" b="1">
                <a:solidFill>
                  <a:srgbClr val="EF9140"/>
                </a:solidFill>
                <a:latin typeface="Aptos"/>
              </a:defRPr>
            </a:pPr>
            <a:r>
              <a:t>25–40%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The model learns, but DP may mask the client effect relative to retrain variability.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42976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27432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23AA78"/>
                </a:solidFill>
                <a:latin typeface="Aptos"/>
              </a:defRPr>
            </a:pPr>
            <a:r>
              <a:t>≥40%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5468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0">
                <a:solidFill>
                  <a:srgbClr val="122034"/>
                </a:solidFill>
                <a:latin typeface="Aptos"/>
              </a:defRPr>
            </a:pPr>
            <a:r>
              <a:t>Only here is a meaningful DP-versus-unlearning comparison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05  |  COMPLETED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BENCHMARK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EVALUATION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Client-level DP + RDP ledger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Deterministic deletion manifests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Exact + independent retraining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Fine-tuning + cached reconstruction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FedEraser-style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480560" cy="3200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CIFAR-10 multiclass backend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GroupNorm CNN / ResNet path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MUB + validity gates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MIA + tri-population probes</a:t>
            </a:r>
          </a:p>
          <a:p>
            <a:pPr>
              <a:spcAft>
                <a:spcPts val="800"/>
              </a:spcAft>
              <a:defRPr sz="1600">
                <a:solidFill>
                  <a:srgbClr val="122034"/>
                </a:solidFill>
                <a:latin typeface="Aptos"/>
              </a:defRPr>
            </a:pPr>
            <a:r>
              <a:t>• GPU/Colab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06  | 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Utility gate: a non-vacuous frozen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NON-PRIVATE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44.82%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3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FROZEN DP-ONLY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epsilon ≈ 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143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 / NON-DP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82880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6C6DA"/>
                </a:solidFill>
                <a:latin typeface="Aptos"/>
              </a:defRPr>
            </a:pPr>
            <a:r>
              <a:t>94.6%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observed mean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7180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2D6DDC"/>
                </a:solidFill>
                <a:latin typeface="Aptos"/>
              </a:defRPr>
            </a:pPr>
            <a:r>
              <a:t>Frozen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122034"/>
                </a:solidFill>
                <a:latin typeface="Aptos"/>
              </a:defRPr>
            </a:pPr>
            <a:r>
              <a:t>SmallGroupNormCNN  |  100 clients  |  q=0.5  |  40 rounds  |  5 local epochs  |  alpha=0.5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0515600" cy="100584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99669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The current model is not broken. The experiment has reached a useful finite-DP regime where unlearning is no longer a vacuous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07  |  MEASURED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privacy–utility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Mean test accuracy across 3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5366" y="3974759"/>
            <a:ext cx="566928" cy="1191600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8206" y="3718727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19.4%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933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79826" y="3402546"/>
            <a:ext cx="566928" cy="1763813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2666" y="3146514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28.8%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379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4286" y="2733722"/>
            <a:ext cx="566928" cy="2432637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7126" y="2478357"/>
            <a:ext cx="841247" cy="24622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rPr lang="en-IN" dirty="0"/>
              <a:t>42</a:t>
            </a:r>
            <a:r>
              <a:rPr dirty="0"/>
              <a:t>.</a:t>
            </a:r>
            <a:r>
              <a:rPr lang="en-IN" dirty="0"/>
              <a:t>.38</a:t>
            </a:r>
            <a:r>
              <a:rPr dirty="0"/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25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ε=32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8746" y="2420471"/>
            <a:ext cx="566928" cy="2745888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1586" y="216443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271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non-DP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D6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1691640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26C6DA"/>
                </a:solidFill>
                <a:latin typeface="Aptos"/>
              </a:defRPr>
            </a:pPr>
            <a:r>
              <a:t>READING THE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148840"/>
            <a:ext cx="283464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ε=8 is utility-invalid.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ε=16 is marginal but above chance.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ε=32 is the strongest finite-DP point.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Non-DP establishes the learning ceiling for this federated setup.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6C6DA"/>
                </a:solidFill>
                <a:latin typeface="Aptos"/>
              </a:defRPr>
            </a:pPr>
            <a:r>
              <a:t>The benchmark only moves to unlearning once the model is non-vacuous.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08  |  DIAGNOSTIC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One controlled change unlocked the frozen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ε=32 · 40 rounds · mean accuracy across 3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7776" y="3198534"/>
            <a:ext cx="566928" cy="1967825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0616" y="294250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32.1%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174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2 epochs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7056" y="2706578"/>
            <a:ext cx="566928" cy="2459781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450546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40.1%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4 epochs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6336" y="2569957"/>
            <a:ext cx="566928" cy="2596402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9176" y="2313925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030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5 epochs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691640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23AA78"/>
                </a:solidFill>
                <a:latin typeface="Aptos"/>
              </a:defRPr>
            </a:pPr>
            <a:r>
              <a:t>+10.26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148840"/>
            <a:ext cx="283464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from 2 → 5 local epochs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880360"/>
            <a:ext cx="2743200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model.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ε=32.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Same 40 rounds.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Only local learning 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23AA78"/>
                </a:solidFill>
                <a:latin typeface="Aptos"/>
              </a:defRPr>
            </a:pPr>
            <a:r>
              <a:t>Frozen candidate: 5 local epochs; 42.38% mean DP utility.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07  |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First frozen unlearning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530352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563624"/>
            <a:ext cx="5029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219456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563624"/>
            <a:ext cx="192024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 ACC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41732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31352" y="1563624"/>
            <a:ext cx="24688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FORGOTTEN ACC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011680"/>
            <a:ext cx="91440" cy="64008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219456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DP-only / no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9456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42.38%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D6DDC"/>
                </a:solidFill>
                <a:latin typeface="Aptos"/>
              </a:defRPr>
            </a:pPr>
            <a:r>
              <a:t>51.00%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78892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2788920"/>
            <a:ext cx="91440" cy="64008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297180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Retained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44.05%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23AA78"/>
                </a:solidFill>
                <a:latin typeface="Aptos"/>
              </a:defRPr>
            </a:pPr>
            <a:r>
              <a:t>50.83%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6616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3566160"/>
            <a:ext cx="91440" cy="64008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74904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4904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41.47%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4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EF9140"/>
                </a:solidFill>
                <a:latin typeface="Aptos"/>
              </a:defRPr>
            </a:pPr>
            <a:r>
              <a:t>40.50%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343400"/>
            <a:ext cx="10241280" cy="640080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4343400"/>
            <a:ext cx="91440" cy="640080"/>
          </a:xfrm>
          <a:prstGeom prst="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452628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FedEraser-style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52628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36.79%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D6535D"/>
                </a:solidFill>
                <a:latin typeface="Aptos"/>
              </a:defRPr>
            </a:pPr>
            <a:r>
              <a:t>42.83%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120640"/>
            <a:ext cx="102412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" y="5120640"/>
            <a:ext cx="91440" cy="64008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5303520"/>
            <a:ext cx="49377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22034"/>
                </a:solidFill>
                <a:latin typeface="Aptos"/>
              </a:defRPr>
            </a:pPr>
            <a:r>
              <a:t>Exact retrain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303520"/>
            <a:ext cx="2194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41.73%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03520"/>
            <a:ext cx="2743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700" b="1">
                <a:solidFill>
                  <a:srgbClr val="122034"/>
                </a:solidFill>
                <a:latin typeface="Aptos"/>
              </a:defRPr>
            </a:pPr>
            <a:r>
              <a:t>43.50%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885688"/>
            <a:ext cx="10515600" cy="50292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0927" y="5945011"/>
            <a:ext cx="1014984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122034"/>
                </a:solidFill>
                <a:latin typeface="Aptos"/>
              </a:defRPr>
            </a:pPr>
            <a:r>
              <a:rPr sz="1600" dirty="0"/>
              <a:t>Forgotten accuracy is a behavior signal, not a privacy guarantee; MIA and tri-population results are required.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09  |  DETAILED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Utility versus forgotten-client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23036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15721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5302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7987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75687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02535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556461"/>
            <a:ext cx="566928" cy="2673906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30042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42.4%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51094"/>
            <a:ext cx="566928" cy="2779273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24328" y="219506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44.0%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2613876"/>
            <a:ext cx="566928" cy="2616491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9896" y="2357844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41.5%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2909154"/>
            <a:ext cx="566928" cy="2321213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2653122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36.8%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2597472"/>
            <a:ext cx="566928" cy="2632895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2341440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122034"/>
                </a:solidFill>
                <a:latin typeface="Aptos"/>
              </a:defRPr>
            </a:pPr>
            <a:r>
              <a:t>41.7%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340095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691640"/>
            <a:ext cx="30175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D6DDC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148840"/>
            <a:ext cx="2788920" cy="2560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Fine-tuning is best for utility.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Cached reconstruction is close to retrain on forgotten accuracy, but overshoots alignment.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FedEraser loses 5.59 pp versus DP-only.</a:t>
            </a:r>
          </a:p>
          <a:p>
            <a:pPr>
              <a:spcAft>
                <a:spcPts val="800"/>
              </a:spcAft>
              <a:defRPr sz="1300">
                <a:solidFill>
                  <a:srgbClr val="122034"/>
                </a:solidFill>
                <a:latin typeface="Aptos"/>
              </a:defRPr>
            </a:pPr>
            <a:r>
              <a:t>• DP-only is only 0.65 pp above retrain in mean test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EF9140"/>
                </a:solidFill>
                <a:latin typeface="Aptos"/>
              </a:defRPr>
            </a:pPr>
            <a:r>
              <a:t>No single method dominates every endpoint.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08  |  PRIVACY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Audited attack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1143000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DP-ONLY FORGOTTEN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D6DDC"/>
                </a:solidFill>
                <a:latin typeface="Aptos"/>
              </a:defRPr>
            </a:pPr>
            <a:r>
              <a:t>0.535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73152" cy="1143000"/>
          </a:xfrm>
          <a:prstGeom prst="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FINE-TUNE FORGOTTEN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23AA78"/>
                </a:solidFill>
                <a:latin typeface="Aptos"/>
              </a:defRPr>
            </a:pPr>
            <a:r>
              <a:t>0.526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73152" cy="1143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36192"/>
            <a:ext cx="30175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5B6E85"/>
                </a:solidFill>
                <a:latin typeface="Aptos"/>
              </a:defRPr>
            </a:pPr>
            <a:r>
              <a:t>RETRAIN FORGOTTEN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83080"/>
            <a:ext cx="30175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0.516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03704"/>
            <a:ext cx="30175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B6E85"/>
                </a:solidFill>
                <a:latin typeface="Aptos"/>
              </a:defRPr>
            </a:pPr>
            <a:r>
              <a:t>held-out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971800"/>
            <a:ext cx="10652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9509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6C6DA"/>
                </a:solidFill>
                <a:latin typeface="Aptos"/>
              </a:defRPr>
            </a:pPr>
            <a:r>
              <a:t>AUDIT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57600"/>
            <a:ext cx="97840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Label-matched forgotten/retained members versus unseen data.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Threshold selected on calibration split; advantage evaluated on disjoint held-out split.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is threshold-independent; bootstrap intervals are reported.</a:t>
            </a:r>
          </a:p>
          <a:p>
            <a:pPr>
              <a:spcAft>
                <a:spcPts val="8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Tri-population probe separates forget, retain, and unseen populations.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EF9140"/>
                </a:solidFill>
                <a:latin typeface="Aptos"/>
              </a:defRPr>
            </a:pPr>
            <a:r>
              <a:t>Current interpretation: no method shows a reliable forgotten-set privacy improvement over DP-only with n=3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10  | 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The attack signal is weak and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6294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0807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122034"/>
                </a:solidFill>
                <a:latin typeface="Aptos"/>
              </a:defRPr>
            </a:pPr>
            <a:r>
              <a:t>Forgotten-set MIA AUC (held-out)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16636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9320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3474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6158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03120"/>
            <a:ext cx="557784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2743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0">
                <a:solidFill>
                  <a:srgbClr val="5B6E85"/>
                </a:solidFill>
                <a:latin typeface="Aptos"/>
              </a:defRPr>
            </a:pPr>
            <a:r>
              <a:t>0.6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434971"/>
            <a:ext cx="566928" cy="2731389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178939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D6DDC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80919"/>
            <a:ext cx="566928" cy="2685440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24328" y="2224887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3AA78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7056" y="2531973"/>
            <a:ext cx="566928" cy="2634386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9896" y="2275941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EF9140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2486025"/>
            <a:ext cx="566928" cy="2680335"/>
          </a:xfrm>
          <a:prstGeom prst="roundRect">
            <a:avLst/>
          </a:prstGeom>
          <a:solidFill>
            <a:srgbClr val="D65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2229993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D6535D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2531973"/>
            <a:ext cx="566928" cy="2634386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2275941"/>
            <a:ext cx="841247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122034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276088"/>
            <a:ext cx="107899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1">
                <a:solidFill>
                  <a:srgbClr val="122034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325880"/>
            <a:ext cx="3703320" cy="470916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691640"/>
            <a:ext cx="2971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300" b="1">
                <a:solidFill>
                  <a:srgbClr val="EF9140"/>
                </a:solidFill>
                <a:latin typeface="Aptos"/>
              </a:defRPr>
            </a:pPr>
            <a:r>
              <a:t>n = 3 seeds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240280"/>
            <a:ext cx="2743200" cy="2377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Intervals are wide.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AUC values are near 0.5.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No explicit method shows a reliable privacy win over DP-only.</a:t>
            </a:r>
          </a:p>
          <a:p>
            <a:pPr>
              <a:spcAft>
                <a:spcPts val="900"/>
              </a:spcAft>
              <a:defRPr sz="1400">
                <a:solidFill>
                  <a:srgbClr val="122034"/>
                </a:solidFill>
                <a:latin typeface="Aptos"/>
              </a:defRPr>
            </a:pPr>
            <a:r>
              <a:t>• Tri-population aggregation remains a required next check.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074920"/>
            <a:ext cx="283464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535D"/>
                </a:solidFill>
                <a:latin typeface="Aptos"/>
              </a:defRPr>
            </a:pPr>
            <a:r>
              <a:t>Current answer: suggestive, not decisive.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09  |  DECISION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Marginal benefit versus practical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84048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74904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ACC MUB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JS MUB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146304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481328"/>
            <a:ext cx="1371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MIA MUB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743200" cy="50292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481328"/>
            <a:ext cx="265176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6596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23AA78"/>
                </a:solidFill>
                <a:latin typeface="Aptos"/>
              </a:defRPr>
            </a:pPr>
            <a:r>
              <a:t>+0.0061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19456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utility gain; privacy unclear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26080"/>
            <a:ext cx="10972800" cy="749808"/>
          </a:xfrm>
          <a:prstGeom prst="roundRect">
            <a:avLst/>
          </a:prstGeom>
          <a:solidFill>
            <a:srgbClr val="EFF4F8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Cached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15468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5468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overshoots; history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8620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37490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122034"/>
                </a:solidFill>
                <a:latin typeface="Aptos"/>
              </a:defRPr>
            </a:pPr>
            <a:r>
              <a:t>FedEraser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-0.0559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1371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-0.0226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6517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D6535D"/>
                </a:solidFill>
                <a:latin typeface="Aptos"/>
              </a:defRPr>
            </a:pPr>
            <a:r>
              <a:t>harmful utility tradeoff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66360"/>
            <a:ext cx="5120640" cy="640080"/>
          </a:xfrm>
          <a:prstGeom prst="roundRect">
            <a:avLst/>
          </a:prstGeom>
          <a:solidFill>
            <a:srgbClr val="E8F3FA"/>
          </a:solidFill>
          <a:ln w="12700">
            <a:solidFill>
              <a:srgbClr val="AF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D6DDC"/>
                </a:solidFill>
                <a:latin typeface="Aptos"/>
              </a:defRPr>
            </a:pPr>
            <a:r>
              <a:t>DP-only: no post-request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66360"/>
            <a:ext cx="5120640" cy="6400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5376672"/>
            <a:ext cx="475488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D6535D"/>
                </a:solidFill>
                <a:latin typeface="Aptos"/>
              </a:defRPr>
            </a:pPr>
            <a:r>
              <a:t>FedEraser: ≈497 MB history + ≈965 MB communication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10  |  SCIENTIFIC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Transparency: what is and is not claimed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526280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AAE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5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23AA78"/>
                </a:solidFill>
                <a:latin typeface="Aptos"/>
              </a:defRPr>
            </a:pPr>
            <a:r>
              <a:t>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Client-level DP mechanism and ledger run correctly.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CNN learns multiclass CIFAR-10 above chance.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Frozen DP regime is useful and non-vacuous.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Explicit baselines and audited attacks run end to end.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FedEraser has a measurable utility/storage tradeoff.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3891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D6535D"/>
                </a:solidFill>
                <a:latin typeface="Aptos"/>
              </a:defRPr>
            </a:pPr>
            <a:r>
              <a:t>NOT YET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48056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DP perfectly deletes client data.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universal epsilon redundancy threshold.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Certified or legal deletion.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confirmed frontier across datasets and request streams.</a:t>
            </a:r>
          </a:p>
          <a:p>
            <a:pPr>
              <a:spcAft>
                <a:spcPts val="800"/>
              </a:spcAft>
              <a:defRPr sz="1500">
                <a:solidFill>
                  <a:srgbClr val="122034"/>
                </a:solidFill>
                <a:latin typeface="Aptos"/>
              </a:defRPr>
            </a:pPr>
            <a:r>
              <a:t>• A statistically decisive winner with only three seeds.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D6DDC"/>
                </a:solidFill>
                <a:latin typeface="Aptos"/>
              </a:defRPr>
            </a:pPr>
            <a:r>
              <a:t>11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122034"/>
                </a:solidFill>
                <a:latin typeface="Aptos"/>
              </a:defRPr>
            </a:pPr>
            <a:r>
              <a:t>Next stage: discover the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94360" cy="5029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32588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453895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Complete tri-population aggregation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594360" cy="502920"/>
          </a:xfrm>
          <a:prstGeom prst="roundRect">
            <a:avLst/>
          </a:prstGeom>
          <a:solidFill>
            <a:srgbClr val="2D6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14884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227685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Confirm transition / harmful cells with 10 seeds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71800"/>
            <a:ext cx="594360" cy="502920"/>
          </a:xfrm>
          <a:prstGeom prst="roundRect">
            <a:avLst/>
          </a:prstGeom>
          <a:solidFill>
            <a:srgbClr val="23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97180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309981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Add heterogeneity, deletion size, and request sequences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594360" cy="502920"/>
          </a:xfrm>
          <a:prstGeom prst="round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79476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392277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Extend to natural client-partitioned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594360" cy="502920"/>
          </a:xfrm>
          <a:prstGeom prst="round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45736"/>
            <a:ext cx="59436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617720"/>
            <a:ext cx="9646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5960" y="4745736"/>
            <a:ext cx="896112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Publish reproducible artifacts and 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623560"/>
            <a:ext cx="10469880" cy="502920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769864"/>
            <a:ext cx="101041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Goal: (ε, α, deletion size, request count) → {redundant, beneficial, harmful, inconclusive}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9184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26C6DA"/>
                </a:solidFill>
                <a:latin typeface="Aptos"/>
              </a:defRPr>
            </a:pPr>
            <a:r>
              <a:t>12  |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The one-line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We are not proposing another unlearning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14600"/>
            <a:ext cx="97383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500" b="1">
                <a:solidFill>
                  <a:srgbClr val="26C6DA"/>
                </a:solidFill>
                <a:latin typeface="Aptos"/>
              </a:defRPr>
            </a:pPr>
            <a:r>
              <a:t>We are building the evidence needed to determine when client-level DP already suppresses a client's influence enough that explicit federated unlearning adds no meaningful benefit — and when it still fails to do 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617720"/>
            <a:ext cx="9921240" cy="27432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983480"/>
            <a:ext cx="97840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0">
                <a:solidFill>
                  <a:srgbClr val="BED2E6"/>
                </a:solidFill>
                <a:latin typeface="Aptos"/>
              </a:defRPr>
            </a:pPr>
            <a:r>
              <a:t>Current status: benchmark validated · frozen study complete · frontier confirmation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47104"/>
            <a:ext cx="822960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0">
                <a:solidFill>
                  <a:srgbClr val="5B6E85"/>
                </a:solidFill>
                <a:latin typeface="Aptos"/>
              </a:defRPr>
            </a:pPr>
            <a:r>
              <a:t>DP-FORGETBENCH  |  RESEARCH STATUS  |  18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800" b="1">
                <a:solidFill>
                  <a:srgbClr val="5B6E85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1417</Words>
  <Application>Microsoft Office PowerPoint</Application>
  <PresentationFormat>Widescreen</PresentationFormat>
  <Paragraphs>291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Vibhu Awasthi</cp:lastModifiedBy>
  <cp:revision>3</cp:revision>
  <dcterms:created xsi:type="dcterms:W3CDTF">2013-01-27T09:14:16Z</dcterms:created>
  <dcterms:modified xsi:type="dcterms:W3CDTF">2026-09-18T21:04:33Z</dcterms:modified>
  <cp:category/>
</cp:coreProperties>
</file>