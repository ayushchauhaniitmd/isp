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2011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DP-ForgetBench: Privacy-Aligned Audit of Federated Unlearning</a:t>
            </a:r>
          </a:p>
          <a:p>
            <a:pPr>
              <a:spcBef>
                <a:spcPts val="1000"/>
              </a:spcBef>
              <a:defRPr sz="1600">
                <a:solidFill>
                  <a:srgbClr val="0EA5E9"/>
                </a:solidFill>
              </a:defRPr>
            </a:pPr>
            <a:r>
              <a:t>When is explicit client unlearning redundant under differentially private federated learning?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383280"/>
            <a:ext cx="512064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PROBLEM STATEMENT (PS)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Federated Learning (FL) models can leak sensitive client data via membership attacks.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Exact Retraining from scratch upon client removal request is computationally prohibited at scale.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Existing Federated Unlearning (FU) methods rely on heuristic updates, lack standardized privacy accounting, and often ignore Differential Privacy (DP).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Scope Mismatch: Literature frequently conflates example-level DP-SGD with client-level deletion requests.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383280"/>
            <a:ext cx="52120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WHAT ARE WE DOING?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Building a reproducible research-grade benchmark (DP-ForgetBench) for client deletion.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Rigorous Privacy Matching: Evaluating central client-level DP (Poisson sampling + Gaussian noise + RDP accountant).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Redundancy Testing: Determining where leaving a DP model unchanged is functionally equivalent to exact retraining.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Gold-Standard Retraining Reference: Benchmarking methods against independent target retrains (MR vs MR') to account for natural training variability.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DP-FORGETBENCH RESEARCH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Prior Published Works &amp; Their Core Contributions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Gu, He, &amp; Chen (arXiv 2025) — </a:t>
            </a:r>
            <a:r>
              <a:rPr b="1">
                <a:solidFill>
                  <a:srgbClr val="0F172A"/>
                </a:solidFill>
              </a:rPr>
              <a:t>"Auditing Approximate Machine Unlearning for DP Models"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Demonstrated that post-hoc approximate unlearning on DP models can inadvertently increase membership privacy leakage on the retained set. Highlighted the necessity of retained-set privacy audits.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Fu et al. (arXiv 2026) — </a:t>
            </a:r>
            <a:r>
              <a:rPr b="1">
                <a:solidFill>
                  <a:srgbClr val="0F172A"/>
                </a:solidFill>
              </a:rPr>
              <a:t>"Revisiting Privacy Leakage in Machine Unlearning"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Introduced tri-population membership inference (TC-UMIA) to evaluate leakage across Forgotten, Retained, and Unseen populations simultaneously rather than inspecting forgotten data in isolation.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79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Liu et al. (IEEE TIFS 2024) — </a:t>
            </a:r>
            <a:r>
              <a:rPr b="1">
                <a:solidFill>
                  <a:srgbClr val="0F172A"/>
                </a:solidFill>
              </a:rPr>
              <a:t>"Privacy-Preserving FU with Certified Client Removal"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Proposed certified client removal (e.g., Starfish) using theoretical upper bounds on residual gradient influence, but required heavy cryptographic/2PC system assumptions and custom architectures.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3484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Zhao et al. (arXiv 2023) — </a:t>
            </a:r>
            <a:r>
              <a:rPr b="1">
                <a:solidFill>
                  <a:srgbClr val="0F172A"/>
                </a:solidFill>
              </a:rPr>
              <a:t>"Exploring Federated Unlearning (OpenFederatedUnlearning)"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Constructed an empirical benchmark for baseline FU (FedEraser, fine-tuning), but lacked client-level central DP integration and formal retrain-variability equivalence bands.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Cadet et al. (NeurIPS 2024) — </a:t>
            </a:r>
            <a:r>
              <a:rPr b="1">
                <a:solidFill>
                  <a:srgbClr val="0F172A"/>
                </a:solidFill>
              </a:rPr>
              <a:t>"Deep Unlearn: Benchmarking Machine Unlearning"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Proved that unlearning evaluation without multiple random seeds, calibrated attacks, and gold-standard retrains leads to false positive unlearning claims.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DP-FORGETBENCH RESEARCH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Where Do We Come In? Our Core Novelty &amp; Contributions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b="1" sz="1300">
                <a:solidFill>
                  <a:srgbClr val="2563EB"/>
                </a:solidFill>
              </a:defRPr>
            </a:pPr>
            <a:r>
              <a:t>1. Privacy-Scope Alignment Audit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Directly resolves the prevalent literature mismatch by enforcing client-level central DP (client updates clipped, Gaussian noise added to server sum, Poisson RDP ledger) for client deletion requests, rather than per-example DP-SGD.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b="1" sz="1300">
                <a:solidFill>
                  <a:srgbClr val="2563EB"/>
                </a:solidFill>
              </a:defRPr>
            </a:pPr>
            <a:r>
              <a:t>2. Empirical Redundancy Frontier Map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Establishes a rigorous map over (ε, heterogeneity α, deletion size, request count) discovering where DP-only protection is statistically equivalent to retraining target, rendering post-hoc unlearning redundant.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b="1" sz="1300">
                <a:solidFill>
                  <a:srgbClr val="2563EB"/>
                </a:solidFill>
              </a:defRPr>
            </a:pPr>
            <a:r>
              <a:t>3. Retrain Variability Equivalence Band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Evaluates unlearning methods against independent target retrains (MR vs MR') rather than demanding zero parameter distance, preventing false conclusions driven by standard stochastic optimization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b="1" sz="1300">
                <a:solidFill>
                  <a:srgbClr val="2563EB"/>
                </a:solidFill>
              </a:defRPr>
            </a:pPr>
            <a:r>
              <a:t>4. Tri-Population &amp; Cost-Aware Ledger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Simultaneously evaluates Forgotten, Retained, and Unseen MIA risks while tracking communication bytes, GPU training hours, and sensitive per-client update storage overhead.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DP-FORGETBENCH RESEARCH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Phase 1 Results &amp; Empirical Identifications (CIFAR-10 Real Data)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68580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b="1" sz="1100">
                <a:solidFill>
                  <a:srgbClr val="2563EB"/>
                </a:solidFill>
              </a:defRPr>
            </a:pPr>
            <a:r>
              <a:t>Phase 1 Benchmark Grid (12 Clients, 1 Full-Client Deletion, 5 Seeds/Cell)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691640"/>
          <a:ext cx="6675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520"/>
                <a:gridCol w="1112520"/>
                <a:gridCol w="1112520"/>
                <a:gridCol w="1112520"/>
                <a:gridCol w="1112520"/>
                <a:gridCol w="1112520"/>
              </a:tblGrid>
              <a:tr h="448056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ε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α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Test Acc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JS to Retrain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Forgot MIA 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DP-Only (No Action)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0.549 ± 0.046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0.286 ± 0.103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0.510 ± 0.035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Retained Fine-Tune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0.585 ± 0.037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0.287 ± 0.090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0.508 ± 0.034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Cached Reconstruction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0.547 ± 0.046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0.286 ± 0.104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0.510 ± 0.035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Independent Retrain (MR')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0.519 ± 0.128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0.304 ± 0.065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0.503 ± 0.019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DP-Only (No Action)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0.613 ± 0.040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0.187 ± 0.065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0.505 ± 0.033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Retained Fine-Tune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0.649 ± 0.023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0.179 ± 0.047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0.497 ± 0.035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Cached Reconstruction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0.603 ± 0.037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0.189 ± 0.067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0.505 ± 0.035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∞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DP-Only (No Action)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0.776 ± 0.010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0.0014 ± 0.0007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0.471 ± 0.015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Retained Fine-Tune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0.782 ± 0.011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0.0016 ± 0.0006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0.472 ± 0.014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1280160"/>
            <a:ext cx="36576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KEY IDENTIFICATIONS FROM RESULTS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1. Redundancy at Low Epsilon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Across all cells (ε=2, 8), explicit unlearning (fine-tuning/reconstruction) produced NO practically material JS improvement over DP-only (Mean marginal JS benefit ≈ -0.001 to +0.013).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2. Noise Dominance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DP noise dominates model updates at strong privacy, rendering post-hoc unlearning redundant relative to retrain variability (q90 ≈ 0.259 - 0.370).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3. Storage &amp; Exposure Risk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Cached update reconstruction requires storing 65 KiB/run of sensitive client update history, creating separate privacy exposure without functional benefit.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4. Baseline Sanity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In the non-private control (ε=∞), test JS divergence to retrain is minimal (~0.0014), confirming baseline evaluator correctness.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DP-FORGETBENCH RESEARCH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Research Workflow, Current Standing &amp; Next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 rIns="228600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Phase 0: Feasibility &amp; Protocol  |  </a:t>
            </a:r>
            <a:r>
              <a:rPr b="1" sz="1200">
                <a:solidFill>
                  <a:srgbClr val="0EA5E9"/>
                </a:solidFill>
              </a:rPr>
              <a:t>[COMPLETE]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Built deterministic simulator, Poisson RDP ledger, deletion manifests, retrain variability checks, and validation script.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 rIns="228600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Phase 1: Exploratory Benchmark  |  </a:t>
            </a:r>
            <a:r>
              <a:rPr b="1" sz="1200">
                <a:solidFill>
                  <a:srgbClr val="0EA5E9"/>
                </a:solidFill>
              </a:rPr>
              <a:t>[COMPLETE]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Executed 30 real CIFAR-10 binary feature runs across 6 cells (ε={2,8,∞}, α={0.2,0.75}). Discovered initial redundancy signal.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79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 rIns="228600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Phase 2: Core Factorial Study  |  </a:t>
            </a:r>
            <a:r>
              <a:rPr b="1" sz="1200">
                <a:solidFill>
                  <a:srgbClr val="2563EB"/>
                </a:solidFill>
              </a:rPr>
              <a:t>[CURRENT GATE]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Scale to multi-class CIFAR-10/100 and FEMNIST with ResNet-18/GroupNorm CNN. Grid: ε={1,2,4,8,∞}, α={0.1,0.3,1.0}, 25% partial deletion.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3484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 rIns="228600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Phase 3: Confirmation &amp; Attacks  |  </a:t>
            </a:r>
            <a:r>
              <a:rPr b="1" sz="1200">
                <a:solidFill>
                  <a:srgbClr val="64748B"/>
                </a:solidFill>
              </a:rPr>
              <a:t>[UPCOMING]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Run 10 confirmation seeds on transition cells, implement full TC-UMIA tri-population MIA attacks, and test 4-request sequential deletion streams.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 rIns="228600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Phase 4: Artifact Release &amp; Paper  |  </a:t>
            </a:r>
            <a:r>
              <a:rPr b="1" sz="1200">
                <a:solidFill>
                  <a:srgbClr val="64748B"/>
                </a:solidFill>
              </a:rPr>
              <a:t>[UPCOMING]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Publish frozen deletion manifests, privacy ledgers, reproducible benchmark codebase, and finalize paper submission.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DP-FORGETBENCH RESEARCH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Appendix A: Mathematical Formulations &amp; Central DP Mechanism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1. CLIENT-LEVEL DP MECHANISM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Poisson Client Selection: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Client i ∈ St ~ Bernoulli(q),  where q = client_sample_rate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Local Update Computation: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Δi(t) = LocalSGD(w(t), Di) - w(t)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L2 Norm Clipping: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Δ̄i(t) = Δi(t) · min( 1, C / ||Δi(t)||₂ )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Server Aggregation &amp; Noise Addition: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w(t+1) = w(t) + (1 / (q·N)) · [ Σ_{i∈St} Δ̄i(t) + N(0, σ² C² I) ]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Public Normalizer Note: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Divided by fixed public q·N (expected sample size), NEVER realized |St|, strictly preserving RDP guarantee.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2. RÉNYI DP (RDP) ACCOUNTING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Composed RDP Orders: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α ∈ {2, 3, 4, 5, 6, 8, 10, 12, 16, 20, 32, 48, 64, 96, 128, 256}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Elementary Event: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E = PoissonSampledDpEvent( q, GaussianDpEvent(σ) )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Self-Composition over T Rounds: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E_total = SelfComposedDpEvent( E, T )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Epsilon Conversion at Target δ: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ε(δ) = min_{α &gt; 1} [ D_α(E_total) + ln(1/δ) / (α - 1) ]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Privacy Adjacency Contract: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Add/remove one complete client dataset D_i. Protects released final model checkpoint.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DP-FORGETBENCH RESEARCH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Appendix B: Metric Definitions &amp; Hyperparameter Settings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1. EVALUATION METRIC FORMULAS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Marginal Unlearning Benefit (MUB):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MUB_j = distance_j( M_DP, M_R ) - distance_j( M_U, M_R )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Jensen-Shannon (JS) Divergence: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D_JS(P || Q) = 1/2 D_KL(P || (P+Q)/2) + 1/2 D_KL(Q || (P+Q)/2)</a:t>
            </a:r>
            <a:br/>
            <a:r>
              <a:t>where P = Softmax(M_U(x)), Q = Softmax(M_R(x))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MIA Advantage Score: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Advantage = max_τ [ TPR(τ) - FPR(τ) ]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Retrain Equivalence Threshold: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Equivalence declared if |MUB| &lt; q90( ||M_R - M_R'||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2. EXPERIMENT PARAMETER VALUES</a:t>
            </a:r>
          </a:p>
          <a:p>
            <a:pPr>
              <a:spcBef>
                <a:spcPts val="400"/>
              </a:spcBef>
              <a:defRPr b="1" sz="950">
                <a:solidFill>
                  <a:srgbClr val="0F172A"/>
                </a:solidFill>
              </a:defRPr>
            </a:pPr>
            <a:r>
              <a:t>Population Size (N): </a:t>
            </a:r>
            <a:r>
              <a:rPr b="0">
                <a:solidFill>
                  <a:srgbClr val="64748B"/>
                </a:solidFill>
              </a:rPr>
              <a:t>12 clients (Phase 1) / 50-200 (Phase 2)</a:t>
            </a:r>
          </a:p>
          <a:p>
            <a:pPr>
              <a:spcBef>
                <a:spcPts val="400"/>
              </a:spcBef>
              <a:defRPr b="1" sz="950">
                <a:solidFill>
                  <a:srgbClr val="0F172A"/>
                </a:solidFill>
              </a:defRPr>
            </a:pPr>
            <a:r>
              <a:t>Client Sample Rate (q): </a:t>
            </a:r>
            <a:r>
              <a:rPr b="0">
                <a:solidFill>
                  <a:srgbClr val="64748B"/>
                </a:solidFill>
              </a:rPr>
              <a:t>0.25 (Poisson independent sampling)</a:t>
            </a:r>
          </a:p>
          <a:p>
            <a:pPr>
              <a:spcBef>
                <a:spcPts val="400"/>
              </a:spcBef>
              <a:defRPr b="1" sz="950">
                <a:solidFill>
                  <a:srgbClr val="0F172A"/>
                </a:solidFill>
              </a:defRPr>
            </a:pPr>
            <a:r>
              <a:t>L2 Clip Norm (C): </a:t>
            </a:r>
            <a:r>
              <a:rPr b="0">
                <a:solidFill>
                  <a:srgbClr val="64748B"/>
                </a:solidFill>
              </a:rPr>
              <a:t>1.0</a:t>
            </a:r>
          </a:p>
          <a:p>
            <a:pPr>
              <a:spcBef>
                <a:spcPts val="400"/>
              </a:spcBef>
              <a:defRPr b="1" sz="950">
                <a:solidFill>
                  <a:srgbClr val="0F172A"/>
                </a:solidFill>
              </a:defRPr>
            </a:pPr>
            <a:r>
              <a:t>Noise Multiplier (σ): </a:t>
            </a:r>
            <a:r>
              <a:rPr b="0">
                <a:solidFill>
                  <a:srgbClr val="64748B"/>
                </a:solidFill>
              </a:rPr>
              <a:t>0.5 (ε≈8.0), 2.0 (ε≈2.0), 0.0 (ε=∞)</a:t>
            </a:r>
          </a:p>
          <a:p>
            <a:pPr>
              <a:spcBef>
                <a:spcPts val="400"/>
              </a:spcBef>
              <a:defRPr b="1" sz="950">
                <a:solidFill>
                  <a:srgbClr val="0F172A"/>
                </a:solidFill>
              </a:defRPr>
            </a:pPr>
            <a:r>
              <a:t>Target Delta (δ): </a:t>
            </a:r>
            <a:r>
              <a:rPr b="0">
                <a:solidFill>
                  <a:srgbClr val="64748B"/>
                </a:solidFill>
              </a:rPr>
              <a:t>1.0e-5</a:t>
            </a:r>
          </a:p>
          <a:p>
            <a:pPr>
              <a:spcBef>
                <a:spcPts val="400"/>
              </a:spcBef>
              <a:defRPr b="1" sz="950">
                <a:solidFill>
                  <a:srgbClr val="0F172A"/>
                </a:solidFill>
              </a:defRPr>
            </a:pPr>
            <a:r>
              <a:t>Federated Rounds (T): </a:t>
            </a:r>
            <a:r>
              <a:rPr b="0">
                <a:solidFill>
                  <a:srgbClr val="64748B"/>
                </a:solidFill>
              </a:rPr>
              <a:t>300 rounds</a:t>
            </a:r>
          </a:p>
          <a:p>
            <a:pPr>
              <a:spcBef>
                <a:spcPts val="400"/>
              </a:spcBef>
              <a:defRPr b="1" sz="950">
                <a:solidFill>
                  <a:srgbClr val="0F172A"/>
                </a:solidFill>
              </a:defRPr>
            </a:pPr>
            <a:r>
              <a:t>Local Training: </a:t>
            </a:r>
            <a:r>
              <a:rPr b="0">
                <a:solidFill>
                  <a:srgbClr val="64748B"/>
                </a:solidFill>
              </a:rPr>
              <a:t>5 epochs, LR = 0.01, Batch Size = 32</a:t>
            </a:r>
          </a:p>
          <a:p>
            <a:pPr>
              <a:spcBef>
                <a:spcPts val="400"/>
              </a:spcBef>
              <a:defRPr b="1" sz="950">
                <a:solidFill>
                  <a:srgbClr val="0F172A"/>
                </a:solidFill>
              </a:defRPr>
            </a:pPr>
            <a:r>
              <a:t>Dirichlet Skew (α): </a:t>
            </a:r>
            <a:r>
              <a:rPr b="0">
                <a:solidFill>
                  <a:srgbClr val="64748B"/>
                </a:solidFill>
              </a:rPr>
              <a:t>0.2 (high heterogeneity), 0.75 (low)</a:t>
            </a:r>
          </a:p>
          <a:p>
            <a:pPr>
              <a:spcBef>
                <a:spcPts val="400"/>
              </a:spcBef>
              <a:defRPr b="1" sz="950">
                <a:solidFill>
                  <a:srgbClr val="0F172A"/>
                </a:solidFill>
              </a:defRPr>
            </a:pPr>
            <a:r>
              <a:t>Deletion Granularity: </a:t>
            </a:r>
            <a:r>
              <a:rPr b="0">
                <a:solidFill>
                  <a:srgbClr val="64748B"/>
                </a:solidFill>
              </a:rPr>
              <a:t>1 full client (100% data) / 25% partial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