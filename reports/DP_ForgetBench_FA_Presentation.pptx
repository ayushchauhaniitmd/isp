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9184"/>
            <a:ext cx="1078992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900" b="1">
                <a:solidFill>
                  <a:srgbClr val="26C6DA"/>
                </a:solidFill>
                <a:latin typeface="Aptos"/>
              </a:defRPr>
            </a:pPr>
            <a:r>
              <a:t>FEDERATED LEARNING × CLIENT-LEVEL PRIVACY × UNLEARNING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881360" cy="5029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"/>
              </a:defRPr>
            </a:pPr>
            <a:r>
              <a:t>DP-ForgetBench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508760"/>
            <a:ext cx="10424160" cy="6400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2300" b="1">
                <a:solidFill>
                  <a:srgbClr val="26C6DA"/>
                </a:solidFill>
                <a:latin typeface="Aptos"/>
              </a:defRPr>
            </a:pPr>
            <a:r>
              <a:t>When is explicit client unlearning redundant under differentially private federated learning?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2514600"/>
            <a:ext cx="10744200" cy="18288"/>
          </a:xfrm>
          <a:prstGeom prst="rect">
            <a:avLst/>
          </a:prstGeom>
          <a:solidFill>
            <a:srgbClr val="26C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907792"/>
            <a:ext cx="4846320" cy="1463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ptos"/>
              </a:defRPr>
            </a:pPr>
            <a:r>
              <a:t>A privacy-aligned benchmark for deciding whether to do nothing, unlearn, or retrain after a client deletion request.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2788920"/>
            <a:ext cx="4800600" cy="2011680"/>
          </a:xfrm>
          <a:prstGeom prst="roundRect">
            <a:avLst/>
          </a:prstGeom>
          <a:solidFill>
            <a:srgbClr val="142A46"/>
          </a:solidFill>
          <a:ln w="12700">
            <a:solidFill>
              <a:srgbClr val="26C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12280" y="3108960"/>
            <a:ext cx="416052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100" b="1">
                <a:solidFill>
                  <a:srgbClr val="26C6DA"/>
                </a:solidFill>
                <a:latin typeface="Aptos"/>
              </a:defRPr>
            </a:pPr>
            <a:r>
              <a:t>THE CENTRAL COMPARISON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12280" y="3566160"/>
            <a:ext cx="4023360" cy="7315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Aptos"/>
              </a:defRPr>
            </a:pPr>
            <a:r>
              <a:t>M_DP  vs  M_U  vs  M_R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12280" y="4434840"/>
            <a:ext cx="402336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000" b="0">
                <a:solidFill>
                  <a:srgbClr val="BED2E6"/>
                </a:solidFill>
                <a:latin typeface="Aptos"/>
              </a:defRPr>
            </a:pPr>
            <a:r>
              <a:t>DP-only  |  explicit unlearning  |  exact retrain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806440"/>
            <a:ext cx="1051560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300" b="0">
                <a:solidFill>
                  <a:srgbClr val="BED2E6"/>
                </a:solidFill>
                <a:latin typeface="Aptos"/>
              </a:defRPr>
            </a:pPr>
            <a:r>
              <a:t>Not a claim that DP is deletion. A test of when explicit unlearning adds material benefit.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547104"/>
            <a:ext cx="8229600" cy="16459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800" b="0">
                <a:solidFill>
                  <a:srgbClr val="5B6E85"/>
                </a:solidFill>
                <a:latin typeface="Aptos"/>
              </a:defRPr>
            </a:pPr>
            <a:r>
              <a:t>DP-FORGETBENCH  |  RESEARCH STATUS  |  18 SEP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547104"/>
            <a:ext cx="411480" cy="16459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800" b="1">
                <a:solidFill>
                  <a:srgbClr val="5B6E85"/>
                </a:solidFill>
                <a:latin typeface="Aptos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9184"/>
            <a:ext cx="1078992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900" b="1">
                <a:solidFill>
                  <a:srgbClr val="2D6DDC"/>
                </a:solidFill>
                <a:latin typeface="Aptos"/>
              </a:defRPr>
            </a:pPr>
            <a:r>
              <a:t>01  | 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10881360" cy="5029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2500" b="1">
                <a:solidFill>
                  <a:srgbClr val="122034"/>
                </a:solidFill>
                <a:latin typeface="Aptos"/>
              </a:defRPr>
            </a:pPr>
            <a:r>
              <a:t>The research question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530352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00200"/>
            <a:ext cx="4572000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300" b="1">
                <a:solidFill>
                  <a:srgbClr val="EF9140"/>
                </a:solidFill>
                <a:latin typeface="Aptos"/>
              </a:defRPr>
            </a:pPr>
            <a:r>
              <a:t>A CLIENT REQUESTS DELETION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057400"/>
            <a:ext cx="4572000" cy="31089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22034"/>
                </a:solidFill>
                <a:latin typeface="Aptos"/>
              </a:defRPr>
            </a:pPr>
            <a:r>
              <a:t>• Exact retraining is the clean reference, but expensive.</a:t>
            </a:r>
          </a:p>
          <a:p>
            <a:pPr>
              <a:spcAft>
                <a:spcPts val="800"/>
              </a:spcAft>
              <a:defRPr sz="1600">
                <a:solidFill>
                  <a:srgbClr val="122034"/>
                </a:solidFill>
                <a:latin typeface="Aptos"/>
              </a:defRPr>
            </a:pPr>
            <a:r>
              <a:t>• Approximate unlearning may change utility or expose retained data.</a:t>
            </a:r>
          </a:p>
          <a:p>
            <a:pPr>
              <a:spcAft>
                <a:spcPts val="800"/>
              </a:spcAft>
              <a:defRPr sz="1600">
                <a:solidFill>
                  <a:srgbClr val="122034"/>
                </a:solidFill>
                <a:latin typeface="Aptos"/>
              </a:defRPr>
            </a:pPr>
            <a:r>
              <a:t>• A DP model may already have a small client influence.</a:t>
            </a:r>
          </a:p>
          <a:p>
            <a:pPr>
              <a:spcAft>
                <a:spcPts val="800"/>
              </a:spcAft>
              <a:defRPr sz="1600">
                <a:solidFill>
                  <a:srgbClr val="122034"/>
                </a:solidFill>
                <a:latin typeface="Aptos"/>
              </a:defRPr>
            </a:pPr>
            <a:r>
              <a:t>• The wrong comparison can make a useless model look forgotten.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325880"/>
            <a:ext cx="5074920" cy="4434840"/>
          </a:xfrm>
          <a:prstGeom prst="roundRect">
            <a:avLst/>
          </a:prstGeom>
          <a:solidFill>
            <a:srgbClr val="0A1426"/>
          </a:solidFill>
          <a:ln w="12700">
            <a:solidFill>
              <a:srgbClr val="2D6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20840" y="1645920"/>
            <a:ext cx="438912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100" b="1">
                <a:solidFill>
                  <a:srgbClr val="26C6DA"/>
                </a:solidFill>
                <a:latin typeface="Aptos"/>
              </a:defRPr>
            </a:pPr>
            <a:r>
              <a:t>OUR TEST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2057400"/>
            <a:ext cx="4297680" cy="12344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ptos"/>
              </a:defRPr>
            </a:pPr>
            <a:r>
              <a:t>Does explicit unlearning provide meaningful benefit beyond leaving the client-level DP model unchanged?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3886200"/>
            <a:ext cx="4251960" cy="8229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600" b="0">
                <a:solidFill>
                  <a:srgbClr val="BED2E6"/>
                </a:solidFill>
                <a:latin typeface="Aptos"/>
              </a:defRPr>
            </a:pPr>
            <a:r>
              <a:t>A benefit must be measured against retraining variability, not one arbitrary retrain.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547104"/>
            <a:ext cx="8229600" cy="16459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800" b="0">
                <a:solidFill>
                  <a:srgbClr val="5B6E85"/>
                </a:solidFill>
                <a:latin typeface="Aptos"/>
              </a:defRPr>
            </a:pPr>
            <a:r>
              <a:t>DP-FORGETBENCH  |  RESEARCH STATUS  |  18 SEP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547104"/>
            <a:ext cx="411480" cy="16459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800" b="1">
                <a:solidFill>
                  <a:srgbClr val="5B6E85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9184"/>
            <a:ext cx="1078992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900" b="1">
                <a:solidFill>
                  <a:srgbClr val="2D6DDC"/>
                </a:solidFill>
                <a:latin typeface="Aptos"/>
              </a:defRPr>
            </a:pPr>
            <a:r>
              <a:t>02  |  CONTRIBUTION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10881360" cy="5029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2500" b="1">
                <a:solidFill>
                  <a:srgbClr val="122034"/>
                </a:solidFill>
                <a:latin typeface="Aptos"/>
              </a:defRPr>
            </a:pPr>
            <a:r>
              <a:t>What is genuinely novel?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516636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91440" cy="1920240"/>
          </a:xfrm>
          <a:prstGeom prst="rect">
            <a:avLst/>
          </a:prstGeom>
          <a:solidFill>
            <a:srgbClr val="26C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00200"/>
            <a:ext cx="452628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600" b="1">
                <a:solidFill>
                  <a:srgbClr val="26C6DA"/>
                </a:solidFill>
                <a:latin typeface="Aptos"/>
              </a:defRPr>
            </a:pPr>
            <a:r>
              <a:t>Privacy-scope alignment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03120"/>
            <a:ext cx="4526280" cy="7772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400" b="0">
                <a:solidFill>
                  <a:srgbClr val="122034"/>
                </a:solidFill>
                <a:latin typeface="Aptos"/>
              </a:defRPr>
            </a:pPr>
            <a:r>
              <a:t>Client deletion is evaluated under client-level central DP, not example-level DP-SGD.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325880"/>
            <a:ext cx="516636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325880"/>
            <a:ext cx="91440" cy="1920240"/>
          </a:xfrm>
          <a:prstGeom prst="rect">
            <a:avLst/>
          </a:prstGeom>
          <a:solidFill>
            <a:srgbClr val="2D6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00200"/>
            <a:ext cx="452628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600" b="1">
                <a:solidFill>
                  <a:srgbClr val="2D6DDC"/>
                </a:solidFill>
                <a:latin typeface="Aptos"/>
              </a:defRPr>
            </a:pPr>
            <a:r>
              <a:t>Redundancy frontier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103120"/>
            <a:ext cx="4526280" cy="7772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400" b="0">
                <a:solidFill>
                  <a:srgbClr val="122034"/>
                </a:solidFill>
                <a:latin typeface="Aptos"/>
              </a:defRPr>
            </a:pPr>
            <a:r>
              <a:t>Map redundant, beneficial, harmful, and inconclusive regions over privacy and deletion factors.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657600"/>
            <a:ext cx="516636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657600"/>
            <a:ext cx="91440" cy="1920240"/>
          </a:xfrm>
          <a:prstGeom prst="rect">
            <a:avLst/>
          </a:prstGeom>
          <a:solidFill>
            <a:srgbClr val="23A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931920"/>
            <a:ext cx="452628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600" b="1">
                <a:solidFill>
                  <a:srgbClr val="23AA78"/>
                </a:solidFill>
                <a:latin typeface="Aptos"/>
              </a:defRPr>
            </a:pPr>
            <a:r>
              <a:t>Retrain variability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434840"/>
            <a:ext cx="4526280" cy="7772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400" b="0">
                <a:solidFill>
                  <a:srgbClr val="122034"/>
                </a:solidFill>
                <a:latin typeface="Aptos"/>
              </a:defRPr>
            </a:pPr>
            <a:r>
              <a:t>Independent M_R runs define the natural stochastic reference band.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3657600"/>
            <a:ext cx="516636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3657600"/>
            <a:ext cx="91440" cy="1920240"/>
          </a:xfrm>
          <a:prstGeom prst="rect">
            <a:avLst/>
          </a:prstGeom>
          <a:solidFill>
            <a:srgbClr val="EF91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3931920"/>
            <a:ext cx="452628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600" b="1">
                <a:solidFill>
                  <a:srgbClr val="EF9140"/>
                </a:solidFill>
                <a:latin typeface="Aptos"/>
              </a:defRPr>
            </a:pPr>
            <a:r>
              <a:t>Tri-population + cost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4434840"/>
            <a:ext cx="4526280" cy="7772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400" b="0">
                <a:solidFill>
                  <a:srgbClr val="122034"/>
                </a:solidFill>
                <a:latin typeface="Aptos"/>
              </a:defRPr>
            </a:pPr>
            <a:r>
              <a:t>Forgotten, retained, unseen privacy and full request-lifecycle cost are visible.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547104"/>
            <a:ext cx="8229600" cy="16459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800" b="0">
                <a:solidFill>
                  <a:srgbClr val="5B6E85"/>
                </a:solidFill>
                <a:latin typeface="Aptos"/>
              </a:defRPr>
            </a:pPr>
            <a:r>
              <a:t>DP-FORGETBENCH  |  RESEARCH STATUS  |  18 SEP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547104"/>
            <a:ext cx="411480" cy="16459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800" b="1">
                <a:solidFill>
                  <a:srgbClr val="5B6E85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9184"/>
            <a:ext cx="1078992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900" b="1">
                <a:solidFill>
                  <a:srgbClr val="2D6DDC"/>
                </a:solidFill>
                <a:latin typeface="Aptos"/>
              </a:defRPr>
            </a:pPr>
            <a:r>
              <a:t>03  | 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10881360" cy="5029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2500" b="1">
                <a:solidFill>
                  <a:srgbClr val="122034"/>
                </a:solidFill>
                <a:latin typeface="Aptos"/>
              </a:defRPr>
            </a:pPr>
            <a:r>
              <a:t>The privacy contract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417320"/>
            <a:ext cx="329184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00200"/>
            <a:ext cx="548640" cy="3657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2000" b="1">
                <a:solidFill>
                  <a:srgbClr val="26C6DA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645920"/>
            <a:ext cx="2103120" cy="5943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500" b="1">
                <a:solidFill>
                  <a:srgbClr val="122034"/>
                </a:solidFill>
                <a:latin typeface="Aptos"/>
              </a:defRPr>
            </a:pPr>
            <a:r>
              <a:t>Poisson sample clients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1417320"/>
            <a:ext cx="329184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00600" y="1600200"/>
            <a:ext cx="548640" cy="3657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2000" b="1">
                <a:solidFill>
                  <a:srgbClr val="26C6DA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1645920"/>
            <a:ext cx="2103120" cy="5943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500" b="1">
                <a:solidFill>
                  <a:srgbClr val="122034"/>
                </a:solidFill>
                <a:latin typeface="Aptos"/>
              </a:defRPr>
            </a:pPr>
            <a:r>
              <a:t>Clip complete client updates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66760" y="1417320"/>
            <a:ext cx="329184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0" y="1600200"/>
            <a:ext cx="548640" cy="3657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2000" b="1">
                <a:solidFill>
                  <a:srgbClr val="26C6DA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81160" y="1645920"/>
            <a:ext cx="2103120" cy="5943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500" b="1">
                <a:solidFill>
                  <a:srgbClr val="122034"/>
                </a:solidFill>
                <a:latin typeface="Aptos"/>
              </a:defRPr>
            </a:pPr>
            <a:r>
              <a:t>Add Gaussian noise to sum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246120"/>
            <a:ext cx="329184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429000"/>
            <a:ext cx="548640" cy="3657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2000" b="1">
                <a:solidFill>
                  <a:srgbClr val="26C6DA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3474720"/>
            <a:ext cx="2103120" cy="5943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500" b="1">
                <a:solidFill>
                  <a:srgbClr val="122034"/>
                </a:solidFill>
                <a:latin typeface="Aptos"/>
              </a:defRPr>
            </a:pPr>
            <a:r>
              <a:t>Normalize by fixed q×N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0" y="3246120"/>
            <a:ext cx="329184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00600" y="3429000"/>
            <a:ext cx="548640" cy="3657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2000" b="1">
                <a:solidFill>
                  <a:srgbClr val="26C6DA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3474720"/>
            <a:ext cx="2103120" cy="5943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500" b="1">
                <a:solidFill>
                  <a:srgbClr val="122034"/>
                </a:solidFill>
                <a:latin typeface="Aptos"/>
              </a:defRPr>
            </a:pPr>
            <a:r>
              <a:t>Account with RDP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5257800"/>
            <a:ext cx="10698480" cy="685800"/>
          </a:xfrm>
          <a:prstGeom prst="roundRect">
            <a:avLst/>
          </a:prstGeom>
          <a:solidFill>
            <a:srgbClr val="E8F3FA"/>
          </a:solidFill>
          <a:ln w="12700">
            <a:solidFill>
              <a:srgbClr val="AA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5458968"/>
            <a:ext cx="1014984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200" b="1">
                <a:solidFill>
                  <a:srgbClr val="122034"/>
                </a:solidFill>
                <a:latin typeface="Aptos"/>
              </a:defRPr>
            </a:pPr>
            <a:r>
              <a:t>Adjacency = one complete client dataset  |  delta = 1e-5  |  secure aggregation not implemented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6547104"/>
            <a:ext cx="8229600" cy="16459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800" b="0">
                <a:solidFill>
                  <a:srgbClr val="5B6E85"/>
                </a:solidFill>
                <a:latin typeface="Aptos"/>
              </a:defRPr>
            </a:pPr>
            <a:r>
              <a:t>DP-FORGETBENCH  |  RESEARCH STATUS  |  18 SEP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64240" y="6547104"/>
            <a:ext cx="411480" cy="16459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800" b="1">
                <a:solidFill>
                  <a:srgbClr val="5B6E85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9184"/>
            <a:ext cx="1078992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900" b="1">
                <a:solidFill>
                  <a:srgbClr val="2D6DDC"/>
                </a:solidFill>
                <a:latin typeface="Aptos"/>
              </a:defRPr>
            </a:pPr>
            <a:r>
              <a:t>04  |  VALIDITY GATE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10881360" cy="5029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2500" b="1">
                <a:solidFill>
                  <a:srgbClr val="122034"/>
                </a:solidFill>
                <a:latin typeface="Aptos"/>
              </a:defRPr>
            </a:pPr>
            <a:r>
              <a:t>We prevent vacuous unlearning claims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417320"/>
            <a:ext cx="3337560" cy="4297680"/>
          </a:xfrm>
          <a:prstGeom prst="roundRect">
            <a:avLst/>
          </a:prstGeom>
          <a:solidFill>
            <a:srgbClr val="FFF1F2"/>
          </a:solidFill>
          <a:ln w="12700">
            <a:solidFill>
              <a:srgbClr val="F5BE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737360"/>
            <a:ext cx="274320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300" b="1">
                <a:solidFill>
                  <a:srgbClr val="D6535D"/>
                </a:solidFill>
                <a:latin typeface="Aptos"/>
              </a:defRPr>
            </a:pPr>
            <a:r>
              <a:t>UTILITY COLLAPSE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286000"/>
            <a:ext cx="2743200" cy="6400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3400" b="1">
                <a:solidFill>
                  <a:srgbClr val="D6535D"/>
                </a:solidFill>
                <a:latin typeface="Aptos"/>
              </a:defRPr>
            </a:pPr>
            <a:r>
              <a:t>≈10%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154680"/>
            <a:ext cx="2697480" cy="12801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600" b="0">
                <a:solidFill>
                  <a:srgbClr val="122034"/>
                </a:solidFill>
                <a:latin typeface="Aptos"/>
              </a:defRPr>
            </a:pPr>
            <a:r>
              <a:t>Low leakage here does not prove forgetting. The model did not learn enough for deletion to matter.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417320"/>
            <a:ext cx="3337560" cy="4297680"/>
          </a:xfrm>
          <a:prstGeom prst="roundRect">
            <a:avLst/>
          </a:prstGeom>
          <a:solidFill>
            <a:srgbClr val="FFF8EB"/>
          </a:solidFill>
          <a:ln w="12700">
            <a:solidFill>
              <a:srgbClr val="F5D2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60" y="1737360"/>
            <a:ext cx="274320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300" b="1">
                <a:solidFill>
                  <a:srgbClr val="EF9140"/>
                </a:solidFill>
                <a:latin typeface="Aptos"/>
              </a:defRPr>
            </a:pPr>
            <a:r>
              <a:t>DP-DOMINATED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2286000"/>
            <a:ext cx="2743200" cy="6400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3000" b="1">
                <a:solidFill>
                  <a:srgbClr val="EF9140"/>
                </a:solidFill>
                <a:latin typeface="Aptos"/>
              </a:defRPr>
            </a:pPr>
            <a:r>
              <a:t>25–40%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3154680"/>
            <a:ext cx="2697480" cy="12801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600" b="0">
                <a:solidFill>
                  <a:srgbClr val="122034"/>
                </a:solidFill>
                <a:latin typeface="Aptos"/>
              </a:defRPr>
            </a:pPr>
            <a:r>
              <a:t>The model learns, but DP may mask the client effect relative to retrain variability.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417320"/>
            <a:ext cx="3337560" cy="4297680"/>
          </a:xfrm>
          <a:prstGeom prst="roundRect">
            <a:avLst/>
          </a:prstGeom>
          <a:solidFill>
            <a:srgbClr val="EBF9F3"/>
          </a:solidFill>
          <a:ln w="12700">
            <a:solidFill>
              <a:srgbClr val="AAE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1737360"/>
            <a:ext cx="274320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300" b="1">
                <a:solidFill>
                  <a:srgbClr val="23AA78"/>
                </a:solidFill>
                <a:latin typeface="Aptos"/>
              </a:defRPr>
            </a:pPr>
            <a:r>
              <a:t>HEALTHY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286000"/>
            <a:ext cx="2743200" cy="6400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3400" b="1">
                <a:solidFill>
                  <a:srgbClr val="23AA78"/>
                </a:solidFill>
                <a:latin typeface="Aptos"/>
              </a:defRPr>
            </a:pPr>
            <a:r>
              <a:t>≥40%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3154680"/>
            <a:ext cx="2697480" cy="12801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600" b="0">
                <a:solidFill>
                  <a:srgbClr val="122034"/>
                </a:solidFill>
                <a:latin typeface="Aptos"/>
              </a:defRPr>
            </a:pPr>
            <a:r>
              <a:t>Only here is a meaningful DP-versus-unlearning comparison possible.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547104"/>
            <a:ext cx="8229600" cy="16459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800" b="0">
                <a:solidFill>
                  <a:srgbClr val="5B6E85"/>
                </a:solidFill>
                <a:latin typeface="Aptos"/>
              </a:defRPr>
            </a:pPr>
            <a:r>
              <a:t>DP-FORGETBENCH  |  RESEARCH STATUS  |  18 SEP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547104"/>
            <a:ext cx="411480" cy="16459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800" b="1">
                <a:solidFill>
                  <a:srgbClr val="5B6E85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9184"/>
            <a:ext cx="1078992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900" b="1">
                <a:solidFill>
                  <a:srgbClr val="2D6DDC"/>
                </a:solidFill>
                <a:latin typeface="Aptos"/>
              </a:defRPr>
            </a:pPr>
            <a:r>
              <a:t>05  |  COMPLETED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10881360" cy="5029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2500" b="1">
                <a:solidFill>
                  <a:srgbClr val="122034"/>
                </a:solidFill>
                <a:latin typeface="Aptos"/>
              </a:defRPr>
            </a:pPr>
            <a:r>
              <a:t>What we built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71600"/>
            <a:ext cx="516636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63640" y="1371600"/>
            <a:ext cx="516636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691640"/>
            <a:ext cx="4389120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300" b="1">
                <a:solidFill>
                  <a:srgbClr val="2D6DDC"/>
                </a:solidFill>
                <a:latin typeface="Aptos"/>
              </a:defRPr>
            </a:pPr>
            <a:r>
              <a:t>BENCHMARK 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7960" y="1691640"/>
            <a:ext cx="4389120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300" b="1">
                <a:solidFill>
                  <a:srgbClr val="26C6DA"/>
                </a:solidFill>
                <a:latin typeface="Aptos"/>
              </a:defRPr>
            </a:pPr>
            <a:r>
              <a:t>EVALUATION SURFACE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148840"/>
            <a:ext cx="4480560" cy="32004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22034"/>
                </a:solidFill>
                <a:latin typeface="Aptos"/>
              </a:defRPr>
            </a:pPr>
            <a:r>
              <a:t>• Client-level DP + RDP ledger</a:t>
            </a:r>
          </a:p>
          <a:p>
            <a:pPr>
              <a:spcAft>
                <a:spcPts val="800"/>
              </a:spcAft>
              <a:defRPr sz="1600">
                <a:solidFill>
                  <a:srgbClr val="122034"/>
                </a:solidFill>
                <a:latin typeface="Aptos"/>
              </a:defRPr>
            </a:pPr>
            <a:r>
              <a:t>• Deterministic deletion manifests</a:t>
            </a:r>
          </a:p>
          <a:p>
            <a:pPr>
              <a:spcAft>
                <a:spcPts val="800"/>
              </a:spcAft>
              <a:defRPr sz="1600">
                <a:solidFill>
                  <a:srgbClr val="122034"/>
                </a:solidFill>
                <a:latin typeface="Aptos"/>
              </a:defRPr>
            </a:pPr>
            <a:r>
              <a:t>• Exact + independent retraining</a:t>
            </a:r>
          </a:p>
          <a:p>
            <a:pPr>
              <a:spcAft>
                <a:spcPts val="800"/>
              </a:spcAft>
              <a:defRPr sz="1600">
                <a:solidFill>
                  <a:srgbClr val="122034"/>
                </a:solidFill>
                <a:latin typeface="Aptos"/>
              </a:defRPr>
            </a:pPr>
            <a:r>
              <a:t>• Fine-tuning + cached reconstruction</a:t>
            </a:r>
          </a:p>
          <a:p>
            <a:pPr>
              <a:spcAft>
                <a:spcPts val="800"/>
              </a:spcAft>
              <a:defRPr sz="1600">
                <a:solidFill>
                  <a:srgbClr val="122034"/>
                </a:solidFill>
                <a:latin typeface="Aptos"/>
              </a:defRPr>
            </a:pPr>
            <a:r>
              <a:t>• FedEraser-style baseline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148840"/>
            <a:ext cx="4480560" cy="32004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22034"/>
                </a:solidFill>
                <a:latin typeface="Aptos"/>
              </a:defRPr>
            </a:pPr>
            <a:r>
              <a:t>• CIFAR-10 multiclass backend</a:t>
            </a:r>
          </a:p>
          <a:p>
            <a:pPr>
              <a:spcAft>
                <a:spcPts val="800"/>
              </a:spcAft>
              <a:defRPr sz="1600">
                <a:solidFill>
                  <a:srgbClr val="122034"/>
                </a:solidFill>
                <a:latin typeface="Aptos"/>
              </a:defRPr>
            </a:pPr>
            <a:r>
              <a:t>• GroupNorm CNN / ResNet path</a:t>
            </a:r>
          </a:p>
          <a:p>
            <a:pPr>
              <a:spcAft>
                <a:spcPts val="800"/>
              </a:spcAft>
              <a:defRPr sz="1600">
                <a:solidFill>
                  <a:srgbClr val="122034"/>
                </a:solidFill>
                <a:latin typeface="Aptos"/>
              </a:defRPr>
            </a:pPr>
            <a:r>
              <a:t>• MUB + validity gates</a:t>
            </a:r>
          </a:p>
          <a:p>
            <a:pPr>
              <a:spcAft>
                <a:spcPts val="800"/>
              </a:spcAft>
              <a:defRPr sz="1600">
                <a:solidFill>
                  <a:srgbClr val="122034"/>
                </a:solidFill>
                <a:latin typeface="Aptos"/>
              </a:defRPr>
            </a:pPr>
            <a:r>
              <a:t>• MIA + tri-population probes</a:t>
            </a:r>
          </a:p>
          <a:p>
            <a:pPr>
              <a:spcAft>
                <a:spcPts val="800"/>
              </a:spcAft>
              <a:defRPr sz="1600">
                <a:solidFill>
                  <a:srgbClr val="122034"/>
                </a:solidFill>
                <a:latin typeface="Aptos"/>
              </a:defRPr>
            </a:pPr>
            <a:r>
              <a:t>• GPU/Colab reproducibility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547104"/>
            <a:ext cx="8229600" cy="16459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800" b="0">
                <a:solidFill>
                  <a:srgbClr val="5B6E85"/>
                </a:solidFill>
                <a:latin typeface="Aptos"/>
              </a:defRPr>
            </a:pPr>
            <a:r>
              <a:t>DP-FORGETBENCH  |  RESEARCH STATUS  |  18 SEP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547104"/>
            <a:ext cx="411480" cy="16459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800" b="1">
                <a:solidFill>
                  <a:srgbClr val="5B6E85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9184"/>
            <a:ext cx="1078992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900" b="1">
                <a:solidFill>
                  <a:srgbClr val="2D6DDC"/>
                </a:solidFill>
                <a:latin typeface="Aptos"/>
              </a:defRPr>
            </a:pPr>
            <a:r>
              <a:t>06  | 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10881360" cy="5029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2500" b="1">
                <a:solidFill>
                  <a:srgbClr val="122034"/>
                </a:solidFill>
                <a:latin typeface="Aptos"/>
              </a:defRPr>
            </a:pPr>
            <a:r>
              <a:t>Utility gate: a non-vacuous frozen regime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417320"/>
            <a:ext cx="333756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417320"/>
            <a:ext cx="73152" cy="1143000"/>
          </a:xfrm>
          <a:prstGeom prst="rect">
            <a:avLst/>
          </a:prstGeom>
          <a:solidFill>
            <a:srgbClr val="23A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1581912"/>
            <a:ext cx="301752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900" b="1">
                <a:solidFill>
                  <a:srgbClr val="5B6E85"/>
                </a:solidFill>
                <a:latin typeface="Aptos"/>
              </a:defRPr>
            </a:pPr>
            <a:r>
              <a:t>NON-PRIVATE MEAN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1828800"/>
            <a:ext cx="3017520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2500" b="1">
                <a:solidFill>
                  <a:srgbClr val="23AA78"/>
                </a:solidFill>
                <a:latin typeface="Aptos"/>
              </a:defRPr>
            </a:pPr>
            <a:r>
              <a:t>44.82%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249424"/>
            <a:ext cx="301752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900" b="0">
                <a:solidFill>
                  <a:srgbClr val="5B6E85"/>
                </a:solidFill>
                <a:latin typeface="Aptos"/>
              </a:defRPr>
            </a:pPr>
            <a:r>
              <a:t>3 seeds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417320"/>
            <a:ext cx="333756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417320"/>
            <a:ext cx="73152" cy="1143000"/>
          </a:xfrm>
          <a:prstGeom prst="rect">
            <a:avLst/>
          </a:prstGeom>
          <a:solidFill>
            <a:srgbClr val="2D6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7" y="1581912"/>
            <a:ext cx="301752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900" b="1">
                <a:solidFill>
                  <a:srgbClr val="5B6E85"/>
                </a:solidFill>
                <a:latin typeface="Aptos"/>
              </a:defRPr>
            </a:pPr>
            <a:r>
              <a:t>FROZEN DP-ONLY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7" y="1828800"/>
            <a:ext cx="3017520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2500" b="1">
                <a:solidFill>
                  <a:srgbClr val="2D6DDC"/>
                </a:solidFill>
                <a:latin typeface="Aptos"/>
              </a:defRPr>
            </a:pPr>
            <a:r>
              <a:t>42.38%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7" y="2249424"/>
            <a:ext cx="301752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900" b="0">
                <a:solidFill>
                  <a:srgbClr val="5B6E85"/>
                </a:solidFill>
                <a:latin typeface="Aptos"/>
              </a:defRPr>
            </a:pPr>
            <a:r>
              <a:t>epsilon ≈ 32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417320"/>
            <a:ext cx="333756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1417320"/>
            <a:ext cx="73152" cy="1143000"/>
          </a:xfrm>
          <a:prstGeom prst="rect">
            <a:avLst/>
          </a:prstGeom>
          <a:solidFill>
            <a:srgbClr val="26C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93608" y="1581912"/>
            <a:ext cx="301752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900" b="1">
                <a:solidFill>
                  <a:srgbClr val="5B6E85"/>
                </a:solidFill>
                <a:latin typeface="Aptos"/>
              </a:defRPr>
            </a:pPr>
            <a:r>
              <a:t>DP / NON-DP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3608" y="1828800"/>
            <a:ext cx="3017520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2500" b="1">
                <a:solidFill>
                  <a:srgbClr val="26C6DA"/>
                </a:solidFill>
                <a:latin typeface="Aptos"/>
              </a:defRPr>
            </a:pPr>
            <a:r>
              <a:t>94.6%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3608" y="2249424"/>
            <a:ext cx="301752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900" b="0">
                <a:solidFill>
                  <a:srgbClr val="5B6E85"/>
                </a:solidFill>
                <a:latin typeface="Aptos"/>
              </a:defRPr>
            </a:pPr>
            <a:r>
              <a:t>observed mean ratio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2971800"/>
            <a:ext cx="1051560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600" b="1">
                <a:solidFill>
                  <a:srgbClr val="2D6DDC"/>
                </a:solidFill>
                <a:latin typeface="Aptos"/>
              </a:defRPr>
            </a:pPr>
            <a:r>
              <a:t>Frozen configuration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3401568"/>
            <a:ext cx="10515600" cy="4114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800" b="1">
                <a:solidFill>
                  <a:srgbClr val="122034"/>
                </a:solidFill>
                <a:latin typeface="Aptos"/>
              </a:defRPr>
            </a:pPr>
            <a:r>
              <a:t>SmallGroupNormCNN  |  100 clients  |  q=0.5  |  40 rounds  |  5 local epochs  |  alpha=0.5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297680"/>
            <a:ext cx="10515600" cy="1005840"/>
          </a:xfrm>
          <a:prstGeom prst="roundRect">
            <a:avLst/>
          </a:prstGeom>
          <a:solidFill>
            <a:srgbClr val="E8F3FA"/>
          </a:solidFill>
          <a:ln w="12700">
            <a:solidFill>
              <a:srgbClr val="AF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4590288"/>
            <a:ext cx="9966960" cy="4114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700" b="1">
                <a:solidFill>
                  <a:srgbClr val="122034"/>
                </a:solidFill>
                <a:latin typeface="Aptos"/>
              </a:defRPr>
            </a:pPr>
            <a:r>
              <a:t>The current model is not broken. The experiment has reached a useful finite-DP regime where unlearning is no longer a vacuous question.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6547104"/>
            <a:ext cx="8229600" cy="16459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800" b="0">
                <a:solidFill>
                  <a:srgbClr val="5B6E85"/>
                </a:solidFill>
                <a:latin typeface="Aptos"/>
              </a:defRPr>
            </a:pPr>
            <a:r>
              <a:t>DP-FORGETBENCH  |  RESEARCH STATUS  |  18 SEP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64240" y="6547104"/>
            <a:ext cx="411480" cy="16459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800" b="1">
                <a:solidFill>
                  <a:srgbClr val="5B6E85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9184"/>
            <a:ext cx="1078992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900" b="1">
                <a:solidFill>
                  <a:srgbClr val="2D6DDC"/>
                </a:solidFill>
                <a:latin typeface="Aptos"/>
              </a:defRPr>
            </a:pPr>
            <a:r>
              <a:t>07  | 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10881360" cy="5029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2500" b="1">
                <a:solidFill>
                  <a:srgbClr val="122034"/>
                </a:solidFill>
                <a:latin typeface="Aptos"/>
              </a:defRPr>
            </a:pPr>
            <a:r>
              <a:t>First frozen unlearning comparison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417320"/>
            <a:ext cx="5303520" cy="502920"/>
          </a:xfrm>
          <a:prstGeom prst="rect">
            <a:avLst/>
          </a:prstGeom>
          <a:solidFill>
            <a:srgbClr val="0A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3271" y="1563624"/>
            <a:ext cx="502920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METHOD</a:t>
            </a:r>
          </a:p>
        </p:txBody>
      </p:sp>
      <p:sp>
        <p:nvSpPr>
          <p:cNvPr id="7" name="Rectangle 6"/>
          <p:cNvSpPr/>
          <p:nvPr/>
        </p:nvSpPr>
        <p:spPr>
          <a:xfrm>
            <a:off x="6172200" y="1417320"/>
            <a:ext cx="2194560" cy="502920"/>
          </a:xfrm>
          <a:prstGeom prst="rect">
            <a:avLst/>
          </a:prstGeom>
          <a:solidFill>
            <a:srgbClr val="0A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36792" y="1563624"/>
            <a:ext cx="192024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TEST ACC</a:t>
            </a:r>
          </a:p>
        </p:txBody>
      </p:sp>
      <p:sp>
        <p:nvSpPr>
          <p:cNvPr id="9" name="Rectangle 8"/>
          <p:cNvSpPr/>
          <p:nvPr/>
        </p:nvSpPr>
        <p:spPr>
          <a:xfrm>
            <a:off x="8366760" y="1417320"/>
            <a:ext cx="2743200" cy="502920"/>
          </a:xfrm>
          <a:prstGeom prst="rect">
            <a:avLst/>
          </a:prstGeom>
          <a:solidFill>
            <a:srgbClr val="0A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31352" y="1563624"/>
            <a:ext cx="246888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FORGOTTEN ACC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2011680"/>
            <a:ext cx="1024128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2011680"/>
            <a:ext cx="91440" cy="640080"/>
          </a:xfrm>
          <a:prstGeom prst="rect">
            <a:avLst/>
          </a:prstGeom>
          <a:solidFill>
            <a:srgbClr val="2D6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24712" y="2194560"/>
            <a:ext cx="4937759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500" b="1">
                <a:solidFill>
                  <a:srgbClr val="122034"/>
                </a:solidFill>
                <a:latin typeface="Aptos"/>
              </a:defRPr>
            </a:pPr>
            <a:r>
              <a:t>DP-only / no action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2194560"/>
            <a:ext cx="219456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700" b="1">
                <a:solidFill>
                  <a:srgbClr val="2D6DDC"/>
                </a:solidFill>
                <a:latin typeface="Aptos"/>
              </a:defRPr>
            </a:pPr>
            <a:r>
              <a:t>42.38%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194560"/>
            <a:ext cx="27432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700" b="1">
                <a:solidFill>
                  <a:srgbClr val="2D6DDC"/>
                </a:solidFill>
                <a:latin typeface="Aptos"/>
              </a:defRPr>
            </a:pPr>
            <a:r>
              <a:t>51.00%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2788920"/>
            <a:ext cx="10241280" cy="640080"/>
          </a:xfrm>
          <a:prstGeom prst="roundRect">
            <a:avLst/>
          </a:prstGeom>
          <a:solidFill>
            <a:srgbClr val="EFF4F8"/>
          </a:solidFill>
          <a:ln w="12700"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8680" y="2788920"/>
            <a:ext cx="91440" cy="640080"/>
          </a:xfrm>
          <a:prstGeom prst="rect">
            <a:avLst/>
          </a:prstGeom>
          <a:solidFill>
            <a:srgbClr val="23A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24712" y="2971800"/>
            <a:ext cx="4937759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500" b="0">
                <a:solidFill>
                  <a:srgbClr val="122034"/>
                </a:solidFill>
                <a:latin typeface="Aptos"/>
              </a:defRPr>
            </a:pPr>
            <a:r>
              <a:t>Retained fine-tuning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2971800"/>
            <a:ext cx="219456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700" b="1">
                <a:solidFill>
                  <a:srgbClr val="23AA78"/>
                </a:solidFill>
                <a:latin typeface="Aptos"/>
              </a:defRPr>
            </a:pPr>
            <a:r>
              <a:t>44.05%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2971800"/>
            <a:ext cx="27432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700" b="1">
                <a:solidFill>
                  <a:srgbClr val="23AA78"/>
                </a:solidFill>
                <a:latin typeface="Aptos"/>
              </a:defRPr>
            </a:pPr>
            <a:r>
              <a:t>50.83%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80" y="3566160"/>
            <a:ext cx="1024128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68680" y="3566160"/>
            <a:ext cx="91440" cy="640080"/>
          </a:xfrm>
          <a:prstGeom prst="rect">
            <a:avLst/>
          </a:prstGeom>
          <a:solidFill>
            <a:srgbClr val="EF91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24712" y="3749040"/>
            <a:ext cx="4937759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500" b="0">
                <a:solidFill>
                  <a:srgbClr val="122034"/>
                </a:solidFill>
                <a:latin typeface="Aptos"/>
              </a:defRPr>
            </a:pPr>
            <a:r>
              <a:t>Cached reconstruction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3749040"/>
            <a:ext cx="219456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700" b="1">
                <a:solidFill>
                  <a:srgbClr val="EF9140"/>
                </a:solidFill>
                <a:latin typeface="Aptos"/>
              </a:defRPr>
            </a:pPr>
            <a:r>
              <a:t>41.47%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3749040"/>
            <a:ext cx="27432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700" b="1">
                <a:solidFill>
                  <a:srgbClr val="EF9140"/>
                </a:solidFill>
                <a:latin typeface="Aptos"/>
              </a:defRPr>
            </a:pPr>
            <a:r>
              <a:t>40.50%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68680" y="4343400"/>
            <a:ext cx="10241280" cy="640080"/>
          </a:xfrm>
          <a:prstGeom prst="roundRect">
            <a:avLst/>
          </a:prstGeom>
          <a:solidFill>
            <a:srgbClr val="EFF4F8"/>
          </a:solidFill>
          <a:ln w="12700"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68680" y="4343400"/>
            <a:ext cx="91440" cy="640080"/>
          </a:xfrm>
          <a:prstGeom prst="rect">
            <a:avLst/>
          </a:prstGeom>
          <a:solidFill>
            <a:srgbClr val="D653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24712" y="4526280"/>
            <a:ext cx="4937759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500" b="0">
                <a:solidFill>
                  <a:srgbClr val="122034"/>
                </a:solidFill>
                <a:latin typeface="Aptos"/>
              </a:defRPr>
            </a:pPr>
            <a:r>
              <a:t>FedEraser-style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72200" y="4526280"/>
            <a:ext cx="219456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700" b="1">
                <a:solidFill>
                  <a:srgbClr val="D6535D"/>
                </a:solidFill>
                <a:latin typeface="Aptos"/>
              </a:defRPr>
            </a:pPr>
            <a:r>
              <a:t>36.79%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4526280"/>
            <a:ext cx="27432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700" b="1">
                <a:solidFill>
                  <a:srgbClr val="D6535D"/>
                </a:solidFill>
                <a:latin typeface="Aptos"/>
              </a:defRPr>
            </a:pPr>
            <a:r>
              <a:t>42.83%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68680" y="5120640"/>
            <a:ext cx="1024128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68680" y="5120640"/>
            <a:ext cx="91440" cy="640080"/>
          </a:xfrm>
          <a:prstGeom prst="rect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24712" y="5303520"/>
            <a:ext cx="4937759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500" b="0">
                <a:solidFill>
                  <a:srgbClr val="122034"/>
                </a:solidFill>
                <a:latin typeface="Aptos"/>
              </a:defRPr>
            </a:pPr>
            <a:r>
              <a:t>Exact retrain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72200" y="5303520"/>
            <a:ext cx="219456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700" b="1">
                <a:solidFill>
                  <a:srgbClr val="122034"/>
                </a:solidFill>
                <a:latin typeface="Aptos"/>
              </a:defRPr>
            </a:pPr>
            <a:r>
              <a:t>41.73%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66760" y="5303520"/>
            <a:ext cx="27432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700" b="1">
                <a:solidFill>
                  <a:srgbClr val="122034"/>
                </a:solidFill>
                <a:latin typeface="Aptos"/>
              </a:defRPr>
            </a:pPr>
            <a:r>
              <a:t>43.50%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68680" y="5623560"/>
            <a:ext cx="10515600" cy="502920"/>
          </a:xfrm>
          <a:prstGeom prst="roundRect">
            <a:avLst/>
          </a:prstGeom>
          <a:solidFill>
            <a:srgbClr val="FFF8EB"/>
          </a:solidFill>
          <a:ln w="12700">
            <a:solidFill>
              <a:srgbClr val="F5D2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51560" y="5760720"/>
            <a:ext cx="10149840" cy="20116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100" b="1">
                <a:solidFill>
                  <a:srgbClr val="122034"/>
                </a:solidFill>
                <a:latin typeface="Aptos"/>
              </a:defRPr>
            </a:pPr>
            <a:r>
              <a:t>Forgotten accuracy is a behavior signal, not a privacy guarantee; MIA and tri-population results are required.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" y="6547104"/>
            <a:ext cx="8229600" cy="16459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800" b="0">
                <a:solidFill>
                  <a:srgbClr val="5B6E85"/>
                </a:solidFill>
                <a:latin typeface="Aptos"/>
              </a:defRPr>
            </a:pPr>
            <a:r>
              <a:t>DP-FORGETBENCH  |  RESEARCH STATUS  |  18 SEP 2026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64240" y="6547104"/>
            <a:ext cx="411480" cy="16459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800" b="1">
                <a:solidFill>
                  <a:srgbClr val="5B6E85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9184"/>
            <a:ext cx="1078992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900" b="1">
                <a:solidFill>
                  <a:srgbClr val="2D6DDC"/>
                </a:solidFill>
                <a:latin typeface="Aptos"/>
              </a:defRPr>
            </a:pPr>
            <a:r>
              <a:t>08  |  PRIVACY AUDIT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10881360" cy="5029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2500" b="1">
                <a:solidFill>
                  <a:srgbClr val="122034"/>
                </a:solidFill>
                <a:latin typeface="Aptos"/>
              </a:defRPr>
            </a:pPr>
            <a:r>
              <a:t>Audited attack results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71600"/>
            <a:ext cx="333756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371600"/>
            <a:ext cx="73152" cy="1143000"/>
          </a:xfrm>
          <a:prstGeom prst="rect">
            <a:avLst/>
          </a:prstGeom>
          <a:solidFill>
            <a:srgbClr val="2D6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1536192"/>
            <a:ext cx="301752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900" b="1">
                <a:solidFill>
                  <a:srgbClr val="5B6E85"/>
                </a:solidFill>
                <a:latin typeface="Aptos"/>
              </a:defRPr>
            </a:pPr>
            <a:r>
              <a:t>DP-ONLY FORGOTTEN AUC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1783080"/>
            <a:ext cx="3017520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2500" b="1">
                <a:solidFill>
                  <a:srgbClr val="2D6DDC"/>
                </a:solidFill>
                <a:latin typeface="Aptos"/>
              </a:defRPr>
            </a:pPr>
            <a:r>
              <a:t>0.535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203704"/>
            <a:ext cx="301752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900" b="0">
                <a:solidFill>
                  <a:srgbClr val="5B6E85"/>
                </a:solidFill>
                <a:latin typeface="Aptos"/>
              </a:defRPr>
            </a:pPr>
            <a:r>
              <a:t>held-out evaluation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371600"/>
            <a:ext cx="333756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371600"/>
            <a:ext cx="73152" cy="1143000"/>
          </a:xfrm>
          <a:prstGeom prst="rect">
            <a:avLst/>
          </a:prstGeom>
          <a:solidFill>
            <a:srgbClr val="23A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7" y="1536192"/>
            <a:ext cx="301752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900" b="1">
                <a:solidFill>
                  <a:srgbClr val="5B6E85"/>
                </a:solidFill>
                <a:latin typeface="Aptos"/>
              </a:defRPr>
            </a:pPr>
            <a:r>
              <a:t>FINE-TUNE FORGOTTEN AUC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7" y="1783080"/>
            <a:ext cx="3017520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2500" b="1">
                <a:solidFill>
                  <a:srgbClr val="23AA78"/>
                </a:solidFill>
                <a:latin typeface="Aptos"/>
              </a:defRPr>
            </a:pPr>
            <a:r>
              <a:t>0.526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7" y="2203704"/>
            <a:ext cx="301752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900" b="0">
                <a:solidFill>
                  <a:srgbClr val="5B6E85"/>
                </a:solidFill>
                <a:latin typeface="Aptos"/>
              </a:defRPr>
            </a:pPr>
            <a:r>
              <a:t>held-out evaluation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371600"/>
            <a:ext cx="333756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1371600"/>
            <a:ext cx="73152" cy="1143000"/>
          </a:xfrm>
          <a:prstGeom prst="rect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93608" y="1536192"/>
            <a:ext cx="301752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900" b="1">
                <a:solidFill>
                  <a:srgbClr val="5B6E85"/>
                </a:solidFill>
                <a:latin typeface="Aptos"/>
              </a:defRPr>
            </a:pPr>
            <a:r>
              <a:t>RETRAIN FORGOTTEN AUC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3608" y="1783080"/>
            <a:ext cx="3017520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2500" b="1">
                <a:solidFill>
                  <a:srgbClr val="122034"/>
                </a:solidFill>
                <a:latin typeface="Aptos"/>
              </a:defRPr>
            </a:pPr>
            <a:r>
              <a:t>0.516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3608" y="2203704"/>
            <a:ext cx="301752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900" b="0">
                <a:solidFill>
                  <a:srgbClr val="5B6E85"/>
                </a:solidFill>
                <a:latin typeface="Aptos"/>
              </a:defRPr>
            </a:pPr>
            <a:r>
              <a:t>held-out evaluation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2971800"/>
            <a:ext cx="1065276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3246120"/>
            <a:ext cx="9509760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300" b="1">
                <a:solidFill>
                  <a:srgbClr val="26C6DA"/>
                </a:solidFill>
                <a:latin typeface="Aptos"/>
              </a:defRPr>
            </a:pPr>
            <a:r>
              <a:t>AUDIT PROTOCOL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3657600"/>
            <a:ext cx="9784080" cy="1325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22034"/>
                </a:solidFill>
                <a:latin typeface="Aptos"/>
              </a:defRPr>
            </a:pPr>
            <a:r>
              <a:t>• Label-matched forgotten/retained members versus unseen data.</a:t>
            </a:r>
          </a:p>
          <a:p>
            <a:pPr>
              <a:spcAft>
                <a:spcPts val="800"/>
              </a:spcAft>
              <a:defRPr sz="1400">
                <a:solidFill>
                  <a:srgbClr val="122034"/>
                </a:solidFill>
                <a:latin typeface="Aptos"/>
              </a:defRPr>
            </a:pPr>
            <a:r>
              <a:t>• Threshold selected on calibration split; advantage evaluated on disjoint held-out split.</a:t>
            </a:r>
          </a:p>
          <a:p>
            <a:pPr>
              <a:spcAft>
                <a:spcPts val="800"/>
              </a:spcAft>
              <a:defRPr sz="1400">
                <a:solidFill>
                  <a:srgbClr val="122034"/>
                </a:solidFill>
                <a:latin typeface="Aptos"/>
              </a:defRPr>
            </a:pPr>
            <a:r>
              <a:t>• AUC is threshold-independent; bootstrap intervals are reported.</a:t>
            </a:r>
          </a:p>
          <a:p>
            <a:pPr>
              <a:spcAft>
                <a:spcPts val="800"/>
              </a:spcAft>
              <a:defRPr sz="1400">
                <a:solidFill>
                  <a:srgbClr val="122034"/>
                </a:solidFill>
                <a:latin typeface="Aptos"/>
              </a:defRPr>
            </a:pPr>
            <a:r>
              <a:t>• Tri-population probe separates forget, retain, and unseen populations.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669280"/>
            <a:ext cx="1051560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500" b="1">
                <a:solidFill>
                  <a:srgbClr val="EF9140"/>
                </a:solidFill>
                <a:latin typeface="Aptos"/>
              </a:defRPr>
            </a:pPr>
            <a:r>
              <a:t>Current interpretation: no method shows a reliable forgotten-set privacy improvement over DP-only with n=3 seeds.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6547104"/>
            <a:ext cx="8229600" cy="16459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800" b="0">
                <a:solidFill>
                  <a:srgbClr val="5B6E85"/>
                </a:solidFill>
                <a:latin typeface="Aptos"/>
              </a:defRPr>
            </a:pPr>
            <a:r>
              <a:t>DP-FORGETBENCH  |  RESEARCH STATUS  |  18 SEP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64240" y="6547104"/>
            <a:ext cx="411480" cy="16459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800" b="1">
                <a:solidFill>
                  <a:srgbClr val="5B6E85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9184"/>
            <a:ext cx="1078992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900" b="1">
                <a:solidFill>
                  <a:srgbClr val="2D6DDC"/>
                </a:solidFill>
                <a:latin typeface="Aptos"/>
              </a:defRPr>
            </a:pPr>
            <a:r>
              <a:t>09  |  DECISION SURFACE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10881360" cy="5029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2500" b="1">
                <a:solidFill>
                  <a:srgbClr val="122034"/>
                </a:solidFill>
                <a:latin typeface="Aptos"/>
              </a:defRPr>
            </a:pPr>
            <a:r>
              <a:t>Marginal benefit versus practical cost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325880"/>
            <a:ext cx="3840480" cy="502920"/>
          </a:xfrm>
          <a:prstGeom prst="rect">
            <a:avLst/>
          </a:prstGeom>
          <a:solidFill>
            <a:srgbClr val="0A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81328"/>
            <a:ext cx="3749040" cy="16459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METHOD</a:t>
            </a:r>
          </a:p>
        </p:txBody>
      </p:sp>
      <p:sp>
        <p:nvSpPr>
          <p:cNvPr id="7" name="Rectangle 6"/>
          <p:cNvSpPr/>
          <p:nvPr/>
        </p:nvSpPr>
        <p:spPr>
          <a:xfrm>
            <a:off x="4526280" y="1325880"/>
            <a:ext cx="1463040" cy="502920"/>
          </a:xfrm>
          <a:prstGeom prst="rect">
            <a:avLst/>
          </a:prstGeom>
          <a:solidFill>
            <a:srgbClr val="0A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481328"/>
            <a:ext cx="1371600" cy="16459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ACC MUB</a:t>
            </a:r>
          </a:p>
        </p:txBody>
      </p:sp>
      <p:sp>
        <p:nvSpPr>
          <p:cNvPr id="9" name="Rectangle 8"/>
          <p:cNvSpPr/>
          <p:nvPr/>
        </p:nvSpPr>
        <p:spPr>
          <a:xfrm>
            <a:off x="5989320" y="1325880"/>
            <a:ext cx="1463040" cy="502920"/>
          </a:xfrm>
          <a:prstGeom prst="rect">
            <a:avLst/>
          </a:prstGeom>
          <a:solidFill>
            <a:srgbClr val="0A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40" y="1481328"/>
            <a:ext cx="1371600" cy="16459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JS MUB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52360" y="1325880"/>
            <a:ext cx="1463040" cy="502920"/>
          </a:xfrm>
          <a:prstGeom prst="rect">
            <a:avLst/>
          </a:prstGeom>
          <a:solidFill>
            <a:srgbClr val="0A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0" y="1481328"/>
            <a:ext cx="1371600" cy="16459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MIA MUB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15400" y="1325880"/>
            <a:ext cx="2743200" cy="502920"/>
          </a:xfrm>
          <a:prstGeom prst="rect">
            <a:avLst/>
          </a:prstGeom>
          <a:solidFill>
            <a:srgbClr val="0A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0" y="1481328"/>
            <a:ext cx="2651760" cy="16459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DECISION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1965960"/>
            <a:ext cx="1097280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194560"/>
            <a:ext cx="374904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400" b="1">
                <a:solidFill>
                  <a:srgbClr val="122034"/>
                </a:solidFill>
                <a:latin typeface="Aptos"/>
              </a:defRPr>
            </a:pPr>
            <a:r>
              <a:t>Fine-tuning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194560"/>
            <a:ext cx="13716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400" b="0">
                <a:solidFill>
                  <a:srgbClr val="23AA78"/>
                </a:solidFill>
                <a:latin typeface="Aptos"/>
              </a:defRPr>
            </a:pPr>
            <a:r>
              <a:t>+0.0167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0" y="2194560"/>
            <a:ext cx="13716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400" b="0">
                <a:solidFill>
                  <a:srgbClr val="23AA78"/>
                </a:solidFill>
                <a:latin typeface="Aptos"/>
              </a:defRPr>
            </a:pPr>
            <a:r>
              <a:t>+0.0061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0" y="2194560"/>
            <a:ext cx="13716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400" b="0">
                <a:solidFill>
                  <a:srgbClr val="D6535D"/>
                </a:solidFill>
                <a:latin typeface="Aptos"/>
              </a:defRPr>
            </a:pPr>
            <a:r>
              <a:t>-0.0026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0" y="2194560"/>
            <a:ext cx="265176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400" b="0">
                <a:solidFill>
                  <a:srgbClr val="D6535D"/>
                </a:solidFill>
                <a:latin typeface="Aptos"/>
              </a:defRPr>
            </a:pPr>
            <a:r>
              <a:t>utility gain; privacy unclear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2926080"/>
            <a:ext cx="10972800" cy="749808"/>
          </a:xfrm>
          <a:prstGeom prst="roundRect">
            <a:avLst/>
          </a:prstGeom>
          <a:solidFill>
            <a:srgbClr val="EFF4F8"/>
          </a:solidFill>
          <a:ln w="12700"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154680"/>
            <a:ext cx="374904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400" b="1">
                <a:solidFill>
                  <a:srgbClr val="122034"/>
                </a:solidFill>
                <a:latin typeface="Aptos"/>
              </a:defRPr>
            </a:pPr>
            <a:r>
              <a:t>Cached reconstruction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3154680"/>
            <a:ext cx="13716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400" b="0">
                <a:solidFill>
                  <a:srgbClr val="D6535D"/>
                </a:solidFill>
                <a:latin typeface="Aptos"/>
              </a:defRPr>
            </a:pPr>
            <a:r>
              <a:t>-0.0092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0" y="3154680"/>
            <a:ext cx="13716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400" b="0">
                <a:solidFill>
                  <a:srgbClr val="D6535D"/>
                </a:solidFill>
                <a:latin typeface="Aptos"/>
              </a:defRPr>
            </a:pPr>
            <a:r>
              <a:t>-0.0077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0" y="3154680"/>
            <a:ext cx="13716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400" b="0">
                <a:solidFill>
                  <a:srgbClr val="D6535D"/>
                </a:solidFill>
                <a:latin typeface="Aptos"/>
              </a:defRPr>
            </a:pPr>
            <a:r>
              <a:t>-0.0060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0" y="3154680"/>
            <a:ext cx="265176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400" b="0">
                <a:solidFill>
                  <a:srgbClr val="D6535D"/>
                </a:solidFill>
                <a:latin typeface="Aptos"/>
              </a:defRPr>
            </a:pPr>
            <a:r>
              <a:t>overshoots; history cost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3886200"/>
            <a:ext cx="1097280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4114800"/>
            <a:ext cx="374904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400" b="1">
                <a:solidFill>
                  <a:srgbClr val="122034"/>
                </a:solidFill>
                <a:latin typeface="Aptos"/>
              </a:defRPr>
            </a:pPr>
            <a:r>
              <a:t>FedEraser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4114800"/>
            <a:ext cx="13716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400" b="0">
                <a:solidFill>
                  <a:srgbClr val="D6535D"/>
                </a:solidFill>
                <a:latin typeface="Aptos"/>
              </a:defRPr>
            </a:pPr>
            <a:r>
              <a:t>-0.0559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35040" y="4114800"/>
            <a:ext cx="13716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400" b="0">
                <a:solidFill>
                  <a:srgbClr val="D6535D"/>
                </a:solidFill>
                <a:latin typeface="Aptos"/>
              </a:defRPr>
            </a:pPr>
            <a:r>
              <a:t>-0.0027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80" y="4114800"/>
            <a:ext cx="13716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400" b="0">
                <a:solidFill>
                  <a:srgbClr val="D6535D"/>
                </a:solidFill>
                <a:latin typeface="Aptos"/>
              </a:defRPr>
            </a:pPr>
            <a:r>
              <a:t>-0.0226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1120" y="4114800"/>
            <a:ext cx="265176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400" b="0">
                <a:solidFill>
                  <a:srgbClr val="D6535D"/>
                </a:solidFill>
                <a:latin typeface="Aptos"/>
              </a:defRPr>
            </a:pPr>
            <a:r>
              <a:t>harmful utility tradeoff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7240" y="5166360"/>
            <a:ext cx="5120640" cy="640080"/>
          </a:xfrm>
          <a:prstGeom prst="roundRect">
            <a:avLst/>
          </a:prstGeom>
          <a:solidFill>
            <a:srgbClr val="E8F3FA"/>
          </a:solidFill>
          <a:ln w="12700">
            <a:solidFill>
              <a:srgbClr val="AF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0120" y="5376672"/>
            <a:ext cx="4754880" cy="20116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400" b="1">
                <a:solidFill>
                  <a:srgbClr val="2D6DDC"/>
                </a:solidFill>
                <a:latin typeface="Aptos"/>
              </a:defRPr>
            </a:pPr>
            <a:r>
              <a:t>DP-only: no post-request action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09360" y="5166360"/>
            <a:ext cx="5120640" cy="640080"/>
          </a:xfrm>
          <a:prstGeom prst="roundRect">
            <a:avLst/>
          </a:prstGeom>
          <a:solidFill>
            <a:srgbClr val="FFF1F2"/>
          </a:solidFill>
          <a:ln w="12700">
            <a:solidFill>
              <a:srgbClr val="F5BE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92240" y="5376672"/>
            <a:ext cx="4754880" cy="20116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200" b="1">
                <a:solidFill>
                  <a:srgbClr val="D6535D"/>
                </a:solidFill>
                <a:latin typeface="Aptos"/>
              </a:defRPr>
            </a:pPr>
            <a:r>
              <a:t>FedEraser: ≈497 MB history + ≈965 MB communication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6547104"/>
            <a:ext cx="8229600" cy="16459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800" b="0">
                <a:solidFill>
                  <a:srgbClr val="5B6E85"/>
                </a:solidFill>
                <a:latin typeface="Aptos"/>
              </a:defRPr>
            </a:pPr>
            <a:r>
              <a:t>DP-FORGETBENCH  |  RESEARCH STATUS  |  18 SEP 2026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6547104"/>
            <a:ext cx="411480" cy="16459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800" b="1">
                <a:solidFill>
                  <a:srgbClr val="5B6E85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9184"/>
            <a:ext cx="1078992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900" b="1">
                <a:solidFill>
                  <a:srgbClr val="2D6DDC"/>
                </a:solidFill>
                <a:latin typeface="Aptos"/>
              </a:defRPr>
            </a:pPr>
            <a:r>
              <a:t>10  |  SCIENTIFIC BOUNDARY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10881360" cy="5029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2500" b="1">
                <a:solidFill>
                  <a:srgbClr val="122034"/>
                </a:solidFill>
                <a:latin typeface="Aptos"/>
              </a:defRPr>
            </a:pPr>
            <a:r>
              <a:t>Transparency: what is and is not claimed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25880"/>
            <a:ext cx="5166360" cy="4526280"/>
          </a:xfrm>
          <a:prstGeom prst="roundRect">
            <a:avLst/>
          </a:prstGeom>
          <a:solidFill>
            <a:srgbClr val="EBF9F3"/>
          </a:solidFill>
          <a:ln w="12700">
            <a:solidFill>
              <a:srgbClr val="AAE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63640" y="1325880"/>
            <a:ext cx="5166360" cy="4526280"/>
          </a:xfrm>
          <a:prstGeom prst="roundRect">
            <a:avLst/>
          </a:prstGeom>
          <a:solidFill>
            <a:srgbClr val="FFF1F2"/>
          </a:solidFill>
          <a:ln w="12700">
            <a:solidFill>
              <a:srgbClr val="F5BE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645920"/>
            <a:ext cx="4389120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300" b="1">
                <a:solidFill>
                  <a:srgbClr val="23AA78"/>
                </a:solidFill>
                <a:latin typeface="Aptos"/>
              </a:defRPr>
            </a:pPr>
            <a:r>
              <a:t>ESTABLISHED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103120"/>
            <a:ext cx="4480560" cy="31089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22034"/>
                </a:solidFill>
                <a:latin typeface="Aptos"/>
              </a:defRPr>
            </a:pPr>
            <a:r>
              <a:t>• Client-level DP mechanism and ledger run correctly.</a:t>
            </a:r>
          </a:p>
          <a:p>
            <a:pPr>
              <a:spcAft>
                <a:spcPts val="800"/>
              </a:spcAft>
              <a:defRPr sz="1500">
                <a:solidFill>
                  <a:srgbClr val="122034"/>
                </a:solidFill>
                <a:latin typeface="Aptos"/>
              </a:defRPr>
            </a:pPr>
            <a:r>
              <a:t>• CNN learns multiclass CIFAR-10 above chance.</a:t>
            </a:r>
          </a:p>
          <a:p>
            <a:pPr>
              <a:spcAft>
                <a:spcPts val="800"/>
              </a:spcAft>
              <a:defRPr sz="1500">
                <a:solidFill>
                  <a:srgbClr val="122034"/>
                </a:solidFill>
                <a:latin typeface="Aptos"/>
              </a:defRPr>
            </a:pPr>
            <a:r>
              <a:t>• Frozen DP regime is useful and non-vacuous.</a:t>
            </a:r>
          </a:p>
          <a:p>
            <a:pPr>
              <a:spcAft>
                <a:spcPts val="800"/>
              </a:spcAft>
              <a:defRPr sz="1500">
                <a:solidFill>
                  <a:srgbClr val="122034"/>
                </a:solidFill>
                <a:latin typeface="Aptos"/>
              </a:defRPr>
            </a:pPr>
            <a:r>
              <a:t>• Explicit baselines and audited attacks run end to end.</a:t>
            </a:r>
          </a:p>
          <a:p>
            <a:pPr>
              <a:spcAft>
                <a:spcPts val="800"/>
              </a:spcAft>
              <a:defRPr sz="1500">
                <a:solidFill>
                  <a:srgbClr val="122034"/>
                </a:solidFill>
                <a:latin typeface="Aptos"/>
              </a:defRPr>
            </a:pPr>
            <a:r>
              <a:t>• FedEraser has a measurable utility/storage tradeoff.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1645920"/>
            <a:ext cx="4389120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300" b="1">
                <a:solidFill>
                  <a:srgbClr val="D6535D"/>
                </a:solidFill>
                <a:latin typeface="Aptos"/>
              </a:defRPr>
            </a:pPr>
            <a:r>
              <a:t>NOT YET ESTABLISHED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103120"/>
            <a:ext cx="4480560" cy="31089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22034"/>
                </a:solidFill>
                <a:latin typeface="Aptos"/>
              </a:defRPr>
            </a:pPr>
            <a:r>
              <a:t>• DP perfectly deletes client data.</a:t>
            </a:r>
          </a:p>
          <a:p>
            <a:pPr>
              <a:spcAft>
                <a:spcPts val="800"/>
              </a:spcAft>
              <a:defRPr sz="1500">
                <a:solidFill>
                  <a:srgbClr val="122034"/>
                </a:solidFill>
                <a:latin typeface="Aptos"/>
              </a:defRPr>
            </a:pPr>
            <a:r>
              <a:t>• A universal epsilon redundancy threshold.</a:t>
            </a:r>
          </a:p>
          <a:p>
            <a:pPr>
              <a:spcAft>
                <a:spcPts val="800"/>
              </a:spcAft>
              <a:defRPr sz="1500">
                <a:solidFill>
                  <a:srgbClr val="122034"/>
                </a:solidFill>
                <a:latin typeface="Aptos"/>
              </a:defRPr>
            </a:pPr>
            <a:r>
              <a:t>• Certified or legal deletion.</a:t>
            </a:r>
          </a:p>
          <a:p>
            <a:pPr>
              <a:spcAft>
                <a:spcPts val="800"/>
              </a:spcAft>
              <a:defRPr sz="1500">
                <a:solidFill>
                  <a:srgbClr val="122034"/>
                </a:solidFill>
                <a:latin typeface="Aptos"/>
              </a:defRPr>
            </a:pPr>
            <a:r>
              <a:t>• A confirmed frontier across datasets and request streams.</a:t>
            </a:r>
          </a:p>
          <a:p>
            <a:pPr>
              <a:spcAft>
                <a:spcPts val="800"/>
              </a:spcAft>
              <a:defRPr sz="1500">
                <a:solidFill>
                  <a:srgbClr val="122034"/>
                </a:solidFill>
                <a:latin typeface="Aptos"/>
              </a:defRPr>
            </a:pPr>
            <a:r>
              <a:t>• A statistically decisive winner with only three seeds.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547104"/>
            <a:ext cx="8229600" cy="16459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800" b="0">
                <a:solidFill>
                  <a:srgbClr val="5B6E85"/>
                </a:solidFill>
                <a:latin typeface="Aptos"/>
              </a:defRPr>
            </a:pPr>
            <a:r>
              <a:t>DP-FORGETBENCH  |  RESEARCH STATUS  |  18 SEP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547104"/>
            <a:ext cx="411480" cy="16459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800" b="1">
                <a:solidFill>
                  <a:srgbClr val="5B6E85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9184"/>
            <a:ext cx="1078992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900" b="1">
                <a:solidFill>
                  <a:srgbClr val="2D6DDC"/>
                </a:solidFill>
                <a:latin typeface="Aptos"/>
              </a:defRPr>
            </a:pPr>
            <a:r>
              <a:t>11  | 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10881360" cy="5029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2500" b="1">
                <a:solidFill>
                  <a:srgbClr val="122034"/>
                </a:solidFill>
                <a:latin typeface="Aptos"/>
              </a:defRPr>
            </a:pPr>
            <a:r>
              <a:t>Next stage: discover the frontier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325880"/>
            <a:ext cx="594360" cy="502920"/>
          </a:xfrm>
          <a:prstGeom prst="roundRect">
            <a:avLst/>
          </a:prstGeom>
          <a:solidFill>
            <a:srgbClr val="26C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53895"/>
            <a:ext cx="594360" cy="20116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91640" y="1325880"/>
            <a:ext cx="964692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65960" y="1453895"/>
            <a:ext cx="8961120" cy="20116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500" b="1">
                <a:solidFill>
                  <a:srgbClr val="122034"/>
                </a:solidFill>
                <a:latin typeface="Aptos"/>
              </a:defRPr>
            </a:pPr>
            <a:r>
              <a:t>Complete tri-population aggregation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148840"/>
            <a:ext cx="594360" cy="502920"/>
          </a:xfrm>
          <a:prstGeom prst="roundRect">
            <a:avLst/>
          </a:prstGeom>
          <a:solidFill>
            <a:srgbClr val="2D6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276856"/>
            <a:ext cx="594360" cy="20116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91640" y="2148840"/>
            <a:ext cx="964692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65960" y="2276856"/>
            <a:ext cx="8961120" cy="20116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500" b="1">
                <a:solidFill>
                  <a:srgbClr val="122034"/>
                </a:solidFill>
                <a:latin typeface="Aptos"/>
              </a:defRPr>
            </a:pPr>
            <a:r>
              <a:t>Confirm transition / harmful cells with 10 seeds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2971800"/>
            <a:ext cx="594360" cy="502920"/>
          </a:xfrm>
          <a:prstGeom prst="roundRect">
            <a:avLst/>
          </a:prstGeom>
          <a:solidFill>
            <a:srgbClr val="23A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099816"/>
            <a:ext cx="594360" cy="20116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691640" y="2971800"/>
            <a:ext cx="964692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965960" y="3099816"/>
            <a:ext cx="8961120" cy="20116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500" b="1">
                <a:solidFill>
                  <a:srgbClr val="122034"/>
                </a:solidFill>
                <a:latin typeface="Aptos"/>
              </a:defRPr>
            </a:pPr>
            <a:r>
              <a:t>Add heterogeneity, deletion size, and request sequences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3794760"/>
            <a:ext cx="594360" cy="502920"/>
          </a:xfrm>
          <a:prstGeom prst="roundRect">
            <a:avLst/>
          </a:prstGeom>
          <a:solidFill>
            <a:srgbClr val="EF91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922776"/>
            <a:ext cx="594360" cy="20116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691640" y="3794760"/>
            <a:ext cx="964692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965960" y="3922776"/>
            <a:ext cx="8961120" cy="20116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500" b="1">
                <a:solidFill>
                  <a:srgbClr val="122034"/>
                </a:solidFill>
                <a:latin typeface="Aptos"/>
              </a:defRPr>
            </a:pPr>
            <a:r>
              <a:t>Extend to natural client-partitioned data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80" y="4617720"/>
            <a:ext cx="594360" cy="502920"/>
          </a:xfrm>
          <a:prstGeom prst="roundRect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745736"/>
            <a:ext cx="594360" cy="20116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691640" y="4617720"/>
            <a:ext cx="964692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965960" y="4745736"/>
            <a:ext cx="8961120" cy="20116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500" b="1">
                <a:solidFill>
                  <a:srgbClr val="122034"/>
                </a:solidFill>
                <a:latin typeface="Aptos"/>
              </a:defRPr>
            </a:pPr>
            <a:r>
              <a:t>Publish reproducible artifacts and paper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80" y="5623560"/>
            <a:ext cx="10469880" cy="502920"/>
          </a:xfrm>
          <a:prstGeom prst="roundRect">
            <a:avLst/>
          </a:prstGeom>
          <a:solidFill>
            <a:srgbClr val="0A1426"/>
          </a:solidFill>
          <a:ln w="12700">
            <a:solidFill>
              <a:srgbClr val="26C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1560" y="5769864"/>
            <a:ext cx="1010412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Goal: (ε, α, deletion size, request count) → {redundant, beneficial, harmful, inconclusive}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6547104"/>
            <a:ext cx="8229600" cy="16459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800" b="0">
                <a:solidFill>
                  <a:srgbClr val="5B6E85"/>
                </a:solidFill>
                <a:latin typeface="Aptos"/>
              </a:defRPr>
            </a:pPr>
            <a:r>
              <a:t>DP-FORGETBENCH  |  RESEARCH STATUS  |  18 SEP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64240" y="6547104"/>
            <a:ext cx="411480" cy="16459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800" b="1">
                <a:solidFill>
                  <a:srgbClr val="5B6E85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9184"/>
            <a:ext cx="1078992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900" b="1">
                <a:solidFill>
                  <a:srgbClr val="26C6DA"/>
                </a:solidFill>
                <a:latin typeface="Aptos"/>
              </a:defRPr>
            </a:pPr>
            <a:r>
              <a:t>12  |  CLOSE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881360" cy="5029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"/>
              </a:defRPr>
            </a:pPr>
            <a:r>
              <a:t>The one-line takeaway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15600" cy="7315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ptos"/>
              </a:defRPr>
            </a:pPr>
            <a:r>
              <a:t>We are not proposing another unlearning algorithm.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2514600"/>
            <a:ext cx="9738360" cy="1371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2500" b="1">
                <a:solidFill>
                  <a:srgbClr val="26C6DA"/>
                </a:solidFill>
                <a:latin typeface="Aptos"/>
              </a:defRPr>
            </a:pPr>
            <a:r>
              <a:t>We are building the evidence needed to determine when client-level DP already suppresses a client's influence enough that explicit federated unlearning adds no meaningful benefit — and when it still fails to do so.</a:t>
            </a:r>
          </a:p>
        </p:txBody>
      </p:sp>
      <p:sp>
        <p:nvSpPr>
          <p:cNvPr id="6" name="Rectangle 5"/>
          <p:cNvSpPr/>
          <p:nvPr/>
        </p:nvSpPr>
        <p:spPr>
          <a:xfrm>
            <a:off x="1143000" y="4617720"/>
            <a:ext cx="9921240" cy="27432"/>
          </a:xfrm>
          <a:prstGeom prst="rect">
            <a:avLst/>
          </a:prstGeom>
          <a:solidFill>
            <a:srgbClr val="26C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4983480"/>
            <a:ext cx="9784080" cy="3657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400" b="0">
                <a:solidFill>
                  <a:srgbClr val="BED2E6"/>
                </a:solidFill>
                <a:latin typeface="Aptos"/>
              </a:defRPr>
            </a:pPr>
            <a:r>
              <a:t>Current status: benchmark validated · frozen study complete · frontier confirmation next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547104"/>
            <a:ext cx="8229600" cy="16459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800" b="0">
                <a:solidFill>
                  <a:srgbClr val="5B6E85"/>
                </a:solidFill>
                <a:latin typeface="Aptos"/>
              </a:defRPr>
            </a:pPr>
            <a:r>
              <a:t>DP-FORGETBENCH  |  RESEARCH STATUS  |  18 SEP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547104"/>
            <a:ext cx="411480" cy="16459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800" b="1">
                <a:solidFill>
                  <a:srgbClr val="5B6E85"/>
                </a:solidFill>
                <a:latin typeface="Aptos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